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1281" r:id="rId2"/>
    <p:sldId id="342" r:id="rId3"/>
    <p:sldId id="131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4074" userDrawn="1">
          <p15:clr>
            <a:srgbClr val="A4A3A4"/>
          </p15:clr>
        </p15:guide>
        <p15:guide id="4" orient="horz" pos="389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3042" userDrawn="1">
          <p15:clr>
            <a:srgbClr val="A4A3A4"/>
          </p15:clr>
        </p15:guide>
        <p15:guide id="7" pos="384" userDrawn="1">
          <p15:clr>
            <a:srgbClr val="A4A3A4"/>
          </p15:clr>
        </p15:guide>
        <p15:guide id="8" pos="3840" userDrawn="1">
          <p15:clr>
            <a:srgbClr val="A4A3A4"/>
          </p15:clr>
        </p15:guide>
        <p15:guide id="9" pos="7296" userDrawn="1">
          <p15:clr>
            <a:srgbClr val="A4A3A4"/>
          </p15:clr>
        </p15:guide>
        <p15:guide id="10" pos="3647" userDrawn="1">
          <p15:clr>
            <a:srgbClr val="A4A3A4"/>
          </p15:clr>
        </p15:guide>
        <p15:guide id="11" pos="4033" userDrawn="1">
          <p15:clr>
            <a:srgbClr val="A4A3A4"/>
          </p15:clr>
        </p15:guide>
        <p15:guide id="12" pos="52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, Devin" initials="LD" lastIdx="1" clrIdx="0">
    <p:extLst>
      <p:ext uri="{19B8F6BF-5375-455C-9EA6-DF929625EA0E}">
        <p15:presenceInfo xmlns:p15="http://schemas.microsoft.com/office/powerpoint/2012/main" userId="S-1-5-21-142478873-1697519903-1734353810-774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A8D"/>
    <a:srgbClr val="18607D"/>
    <a:srgbClr val="033338"/>
    <a:srgbClr val="52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87145" autoAdjust="0"/>
  </p:normalViewPr>
  <p:slideViewPr>
    <p:cSldViewPr snapToGrid="0" showGuides="1">
      <p:cViewPr varScale="1">
        <p:scale>
          <a:sx n="96" d="100"/>
          <a:sy n="96" d="100"/>
        </p:scale>
        <p:origin x="888" y="84"/>
      </p:cViewPr>
      <p:guideLst>
        <p:guide orient="horz" pos="286"/>
        <p:guide orient="horz" pos="1008"/>
        <p:guide orient="horz" pos="4074"/>
        <p:guide orient="horz" pos="3890"/>
        <p:guide orient="horz" pos="2160"/>
        <p:guide orient="horz" pos="3042"/>
        <p:guide pos="384"/>
        <p:guide pos="3840"/>
        <p:guide pos="7296"/>
        <p:guide pos="3647"/>
        <p:guide pos="4033"/>
        <p:guide pos="5212"/>
      </p:guideLst>
    </p:cSldViewPr>
  </p:slideViewPr>
  <p:outlineViewPr>
    <p:cViewPr>
      <p:scale>
        <a:sx n="33" d="100"/>
        <a:sy n="33" d="100"/>
      </p:scale>
      <p:origin x="0" y="-205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6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C38B3-6D01-485C-BB3B-7B7EB9F871A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4FB8E-87F6-4D2D-9C11-6827051D08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4FB8E-87F6-4D2D-9C11-6827051D08E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41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4FB8E-87F6-4D2D-9C11-6827051D08E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2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4FB8E-87F6-4D2D-9C11-6827051D08E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3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3670"/>
            <a:ext cx="10363200" cy="1470025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3014" y="5858316"/>
            <a:ext cx="3415431" cy="347598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900">
                <a:solidFill>
                  <a:schemeClr val="accent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date</a:t>
            </a:r>
          </a:p>
          <a:p>
            <a:pPr lvl="1"/>
            <a:r>
              <a:rPr lang="en-US" dirty="0"/>
              <a:t>Avnet Confidential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" y="0"/>
            <a:ext cx="487680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Users\Red Peak\Desktop\avnet\pngs\300\Avnet_logo_tagline_rgb_300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9929" y="5897685"/>
            <a:ext cx="2097851" cy="4297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089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3670"/>
            <a:ext cx="10363200" cy="1470025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1" y="2661514"/>
            <a:ext cx="3415431" cy="347598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900">
                <a:solidFill>
                  <a:schemeClr val="accent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900">
                <a:solidFill>
                  <a:schemeClr val="tx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date</a:t>
            </a:r>
          </a:p>
          <a:p>
            <a:pPr lvl="1"/>
            <a:r>
              <a:rPr lang="en-US" dirty="0"/>
              <a:t>Avnet Confidential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" y="0"/>
            <a:ext cx="487680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429001"/>
            <a:ext cx="12192000" cy="3429000"/>
          </a:xfr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insert cover image</a:t>
            </a:r>
            <a:br>
              <a:rPr lang="en-US" dirty="0"/>
            </a:br>
            <a:r>
              <a:rPr lang="en-US" dirty="0"/>
              <a:t>Branded image library: avnetbrand.honeycombarchive.com</a:t>
            </a:r>
          </a:p>
        </p:txBody>
      </p:sp>
      <p:pic>
        <p:nvPicPr>
          <p:cNvPr id="9" name="Picture 2" descr="C:\Users\Red Peak\Desktop\avnet\pngs\300\Avnet_logo_tagline_rgb_300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9929" y="2699231"/>
            <a:ext cx="2097851" cy="4297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758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8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7664451" cy="4575175"/>
          </a:xfrm>
        </p:spPr>
        <p:txBody>
          <a:bodyPr>
            <a:noAutofit/>
          </a:bodyPr>
          <a:lstStyle>
            <a:lvl1pPr>
              <a:defRPr sz="2800" baseline="0"/>
            </a:lvl1pPr>
            <a:lvl2pPr>
              <a:defRPr sz="2800"/>
            </a:lvl2pPr>
            <a:lvl3pPr marL="630238" indent="-287338">
              <a:buSzPct val="100000"/>
              <a:buFont typeface="Arial" panose="020B0604020202020204" pitchFamily="34" charset="0"/>
              <a:buChar char="–"/>
              <a:defRPr sz="2800" baseline="0"/>
            </a:lvl3pPr>
            <a:lvl4pPr marL="968375" indent="-271463">
              <a:buSzPct val="100000"/>
              <a:buFont typeface="Arial" panose="020B0604020202020204" pitchFamily="34" charset="0"/>
              <a:buChar char="–"/>
              <a:defRPr sz="2800"/>
            </a:lvl4pPr>
            <a:lvl5pPr marL="1314450" indent="-273050">
              <a:buSzPct val="100000"/>
              <a:buFont typeface="Arial" panose="020B0604020202020204" pitchFamily="34" charset="0"/>
              <a:buChar char="–"/>
              <a:defRPr sz="2800"/>
            </a:lvl5pPr>
          </a:lstStyle>
          <a:p>
            <a:pPr lvl="0"/>
            <a:r>
              <a:rPr lang="en-US" dirty="0"/>
              <a:t>Subhead if necessary</a:t>
            </a:r>
          </a:p>
          <a:p>
            <a:pPr lvl="1"/>
            <a:r>
              <a:rPr lang="en-US" dirty="0"/>
              <a:t>Body text</a:t>
            </a:r>
          </a:p>
          <a:p>
            <a:pPr lvl="2"/>
            <a:r>
              <a:rPr lang="en-US" dirty="0"/>
              <a:t>Bullet level</a:t>
            </a:r>
          </a:p>
          <a:p>
            <a:pPr lvl="3"/>
            <a:r>
              <a:rPr lang="en-US" dirty="0"/>
              <a:t>Bullet level</a:t>
            </a:r>
          </a:p>
          <a:p>
            <a:pPr lvl="4"/>
            <a:r>
              <a:rPr lang="en-US" dirty="0"/>
              <a:t>Bullet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1" y="1600201"/>
            <a:ext cx="5179484" cy="4575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402917" y="1600201"/>
            <a:ext cx="5179484" cy="4575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181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Click icon to insert photo or illustration image</a:t>
            </a:r>
            <a:br>
              <a:rPr lang="en-US" dirty="0"/>
            </a:br>
            <a:r>
              <a:rPr lang="en-US" dirty="0"/>
              <a:t>Branded image library: avnetbrand.honeycombarchive.com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57200"/>
            <a:ext cx="5179484" cy="9604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1"/>
            <a:ext cx="5179484" cy="4575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5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75376"/>
          </a:xfrm>
          <a:solidFill>
            <a:schemeClr val="accent6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Click icon to insert photo or illustration image</a:t>
            </a:r>
            <a:br>
              <a:rPr lang="en-US" dirty="0"/>
            </a:br>
            <a:r>
              <a:rPr lang="en-US" dirty="0"/>
              <a:t>Branded image library: avnetbrand.honeycombarchive.com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LEFT 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75376"/>
          </a:xfrm>
          <a:solidFill>
            <a:schemeClr val="accent6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Click icon to insert photo or illustration image</a:t>
            </a:r>
            <a:br>
              <a:rPr lang="en-US" dirty="0"/>
            </a:br>
            <a:r>
              <a:rPr lang="en-US" dirty="0"/>
              <a:t>Branded image library: avnetbrand.honeycombarchive.com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 noChangeAspect="1"/>
          </p:cNvSpPr>
          <p:nvPr>
            <p:ph type="body" sz="quarter" idx="14"/>
          </p:nvPr>
        </p:nvSpPr>
        <p:spPr>
          <a:xfrm>
            <a:off x="0" y="4744339"/>
            <a:ext cx="6096000" cy="1431036"/>
          </a:xfrm>
          <a:custGeom>
            <a:avLst/>
            <a:gdLst>
              <a:gd name="connsiteX0" fmla="*/ 0 w 9144000"/>
              <a:gd name="connsiteY0" fmla="*/ 0 h 2862072"/>
              <a:gd name="connsiteX1" fmla="*/ 9144000 w 9144000"/>
              <a:gd name="connsiteY1" fmla="*/ 0 h 2862072"/>
              <a:gd name="connsiteX2" fmla="*/ 9144000 w 9144000"/>
              <a:gd name="connsiteY2" fmla="*/ 2862072 h 2862072"/>
              <a:gd name="connsiteX3" fmla="*/ 0 w 9144000"/>
              <a:gd name="connsiteY3" fmla="*/ 2862072 h 2862072"/>
              <a:gd name="connsiteX4" fmla="*/ 0 w 9144000"/>
              <a:gd name="connsiteY4" fmla="*/ 0 h 2862072"/>
              <a:gd name="connsiteX0" fmla="*/ 0 w 9144000"/>
              <a:gd name="connsiteY0" fmla="*/ 0 h 2886135"/>
              <a:gd name="connsiteX1" fmla="*/ 9144000 w 9144000"/>
              <a:gd name="connsiteY1" fmla="*/ 0 h 2886135"/>
              <a:gd name="connsiteX2" fmla="*/ 8109284 w 9144000"/>
              <a:gd name="connsiteY2" fmla="*/ 2886135 h 2886135"/>
              <a:gd name="connsiteX3" fmla="*/ 0 w 9144000"/>
              <a:gd name="connsiteY3" fmla="*/ 2862072 h 2886135"/>
              <a:gd name="connsiteX4" fmla="*/ 0 w 9144000"/>
              <a:gd name="connsiteY4" fmla="*/ 0 h 2886135"/>
              <a:gd name="connsiteX0" fmla="*/ 0 w 9144000"/>
              <a:gd name="connsiteY0" fmla="*/ 0 h 2862072"/>
              <a:gd name="connsiteX1" fmla="*/ 9144000 w 9144000"/>
              <a:gd name="connsiteY1" fmla="*/ 0 h 2862072"/>
              <a:gd name="connsiteX2" fmla="*/ 8205536 w 9144000"/>
              <a:gd name="connsiteY2" fmla="*/ 2856056 h 2862072"/>
              <a:gd name="connsiteX3" fmla="*/ 0 w 9144000"/>
              <a:gd name="connsiteY3" fmla="*/ 2862072 h 2862072"/>
              <a:gd name="connsiteX4" fmla="*/ 0 w 9144000"/>
              <a:gd name="connsiteY4" fmla="*/ 0 h 2862072"/>
              <a:gd name="connsiteX0" fmla="*/ 0 w 9144000"/>
              <a:gd name="connsiteY0" fmla="*/ 0 h 2862072"/>
              <a:gd name="connsiteX1" fmla="*/ 9144000 w 9144000"/>
              <a:gd name="connsiteY1" fmla="*/ 0 h 2862072"/>
              <a:gd name="connsiteX2" fmla="*/ 8181473 w 9144000"/>
              <a:gd name="connsiteY2" fmla="*/ 2862072 h 2862072"/>
              <a:gd name="connsiteX3" fmla="*/ 0 w 9144000"/>
              <a:gd name="connsiteY3" fmla="*/ 2862072 h 2862072"/>
              <a:gd name="connsiteX4" fmla="*/ 0 w 9144000"/>
              <a:gd name="connsiteY4" fmla="*/ 0 h 2862072"/>
              <a:gd name="connsiteX0" fmla="*/ 0 w 9144000"/>
              <a:gd name="connsiteY0" fmla="*/ 0 h 2862072"/>
              <a:gd name="connsiteX1" fmla="*/ 9144000 w 9144000"/>
              <a:gd name="connsiteY1" fmla="*/ 0 h 2862072"/>
              <a:gd name="connsiteX2" fmla="*/ 8197329 w 9144000"/>
              <a:gd name="connsiteY2" fmla="*/ 2862072 h 2862072"/>
              <a:gd name="connsiteX3" fmla="*/ 0 w 9144000"/>
              <a:gd name="connsiteY3" fmla="*/ 2862072 h 2862072"/>
              <a:gd name="connsiteX4" fmla="*/ 0 w 9144000"/>
              <a:gd name="connsiteY4" fmla="*/ 0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2862072">
                <a:moveTo>
                  <a:pt x="0" y="0"/>
                </a:moveTo>
                <a:lnTo>
                  <a:pt x="9144000" y="0"/>
                </a:lnTo>
                <a:lnTo>
                  <a:pt x="8197329" y="2862072"/>
                </a:lnTo>
                <a:lnTo>
                  <a:pt x="0" y="28620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lIns="457200" rIns="548640" anchor="ctr" anchorCtr="0"/>
          <a:lstStyle>
            <a:lvl1pPr>
              <a:defRPr>
                <a:solidFill>
                  <a:schemeClr val="bg1"/>
                </a:solidFill>
              </a:defRPr>
            </a:lvl1pPr>
            <a:lvl2pPr marL="512763" indent="-169863">
              <a:buSzPct val="80000"/>
              <a:buFont typeface="Arial" panose="020B0604020202020204" pitchFamily="34" charset="0"/>
              <a:buChar char="–"/>
              <a:defRPr>
                <a:solidFill>
                  <a:schemeClr val="bg1"/>
                </a:solidFill>
              </a:defRPr>
            </a:lvl2pPr>
            <a:lvl3pPr marL="800100" indent="-171450">
              <a:defRPr>
                <a:solidFill>
                  <a:schemeClr val="bg1"/>
                </a:solidFill>
              </a:defRPr>
            </a:lvl3pPr>
            <a:lvl4pPr marL="1085850" indent="-17145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908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RIGHT 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75376"/>
          </a:xfrm>
          <a:solidFill>
            <a:schemeClr val="accent6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Click icon to insert photo or illustration image</a:t>
            </a:r>
            <a:br>
              <a:rPr lang="en-US" dirty="0"/>
            </a:br>
            <a:r>
              <a:rPr lang="en-US" dirty="0"/>
              <a:t>Branded image library: avnetbrand.honeycombarchive.com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 noChangeAspect="1"/>
          </p:cNvSpPr>
          <p:nvPr>
            <p:ph type="body" sz="quarter" idx="15"/>
          </p:nvPr>
        </p:nvSpPr>
        <p:spPr>
          <a:xfrm>
            <a:off x="6096000" y="4735685"/>
            <a:ext cx="6096000" cy="1435608"/>
          </a:xfrm>
          <a:custGeom>
            <a:avLst/>
            <a:gdLst>
              <a:gd name="connsiteX0" fmla="*/ 0 w 4572000"/>
              <a:gd name="connsiteY0" fmla="*/ 0 h 1435608"/>
              <a:gd name="connsiteX1" fmla="*/ 4572000 w 4572000"/>
              <a:gd name="connsiteY1" fmla="*/ 0 h 1435608"/>
              <a:gd name="connsiteX2" fmla="*/ 4572000 w 4572000"/>
              <a:gd name="connsiteY2" fmla="*/ 1435608 h 1435608"/>
              <a:gd name="connsiteX3" fmla="*/ 0 w 4572000"/>
              <a:gd name="connsiteY3" fmla="*/ 1435608 h 1435608"/>
              <a:gd name="connsiteX4" fmla="*/ 0 w 4572000"/>
              <a:gd name="connsiteY4" fmla="*/ 0 h 1435608"/>
              <a:gd name="connsiteX0" fmla="*/ 554983 w 4572000"/>
              <a:gd name="connsiteY0" fmla="*/ 5286 h 1435608"/>
              <a:gd name="connsiteX1" fmla="*/ 4572000 w 4572000"/>
              <a:gd name="connsiteY1" fmla="*/ 0 h 1435608"/>
              <a:gd name="connsiteX2" fmla="*/ 4572000 w 4572000"/>
              <a:gd name="connsiteY2" fmla="*/ 1435608 h 1435608"/>
              <a:gd name="connsiteX3" fmla="*/ 0 w 4572000"/>
              <a:gd name="connsiteY3" fmla="*/ 1435608 h 1435608"/>
              <a:gd name="connsiteX4" fmla="*/ 554983 w 4572000"/>
              <a:gd name="connsiteY4" fmla="*/ 5286 h 1435608"/>
              <a:gd name="connsiteX0" fmla="*/ 470414 w 4572000"/>
              <a:gd name="connsiteY0" fmla="*/ 5286 h 1435608"/>
              <a:gd name="connsiteX1" fmla="*/ 4572000 w 4572000"/>
              <a:gd name="connsiteY1" fmla="*/ 0 h 1435608"/>
              <a:gd name="connsiteX2" fmla="*/ 4572000 w 4572000"/>
              <a:gd name="connsiteY2" fmla="*/ 1435608 h 1435608"/>
              <a:gd name="connsiteX3" fmla="*/ 0 w 4572000"/>
              <a:gd name="connsiteY3" fmla="*/ 1435608 h 1435608"/>
              <a:gd name="connsiteX4" fmla="*/ 470414 w 4572000"/>
              <a:gd name="connsiteY4" fmla="*/ 5286 h 1435608"/>
              <a:gd name="connsiteX0" fmla="*/ 470414 w 4572000"/>
              <a:gd name="connsiteY0" fmla="*/ 2268 h 1435608"/>
              <a:gd name="connsiteX1" fmla="*/ 4572000 w 4572000"/>
              <a:gd name="connsiteY1" fmla="*/ 0 h 1435608"/>
              <a:gd name="connsiteX2" fmla="*/ 4572000 w 4572000"/>
              <a:gd name="connsiteY2" fmla="*/ 1435608 h 1435608"/>
              <a:gd name="connsiteX3" fmla="*/ 0 w 4572000"/>
              <a:gd name="connsiteY3" fmla="*/ 1435608 h 1435608"/>
              <a:gd name="connsiteX4" fmla="*/ 470414 w 4572000"/>
              <a:gd name="connsiteY4" fmla="*/ 2268 h 1435608"/>
              <a:gd name="connsiteX0" fmla="*/ 476450 w 4572000"/>
              <a:gd name="connsiteY0" fmla="*/ 0 h 1442393"/>
              <a:gd name="connsiteX1" fmla="*/ 4572000 w 4572000"/>
              <a:gd name="connsiteY1" fmla="*/ 6785 h 1442393"/>
              <a:gd name="connsiteX2" fmla="*/ 4572000 w 4572000"/>
              <a:gd name="connsiteY2" fmla="*/ 1442393 h 1442393"/>
              <a:gd name="connsiteX3" fmla="*/ 0 w 4572000"/>
              <a:gd name="connsiteY3" fmla="*/ 1442393 h 1442393"/>
              <a:gd name="connsiteX4" fmla="*/ 476450 w 4572000"/>
              <a:gd name="connsiteY4" fmla="*/ 0 h 1442393"/>
              <a:gd name="connsiteX0" fmla="*/ 479468 w 4572000"/>
              <a:gd name="connsiteY0" fmla="*/ 2269 h 1435608"/>
              <a:gd name="connsiteX1" fmla="*/ 4572000 w 4572000"/>
              <a:gd name="connsiteY1" fmla="*/ 0 h 1435608"/>
              <a:gd name="connsiteX2" fmla="*/ 4572000 w 4572000"/>
              <a:gd name="connsiteY2" fmla="*/ 1435608 h 1435608"/>
              <a:gd name="connsiteX3" fmla="*/ 0 w 4572000"/>
              <a:gd name="connsiteY3" fmla="*/ 1435608 h 1435608"/>
              <a:gd name="connsiteX4" fmla="*/ 479468 w 4572000"/>
              <a:gd name="connsiteY4" fmla="*/ 2269 h 14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1435608">
                <a:moveTo>
                  <a:pt x="479468" y="2269"/>
                </a:moveTo>
                <a:lnTo>
                  <a:pt x="4572000" y="0"/>
                </a:lnTo>
                <a:lnTo>
                  <a:pt x="4572000" y="1435608"/>
                </a:lnTo>
                <a:lnTo>
                  <a:pt x="0" y="1435608"/>
                </a:lnTo>
                <a:lnTo>
                  <a:pt x="479468" y="2269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640080" tIns="0" rIns="365760" bIns="0" rtlCol="0" anchor="ctr" anchorCtr="0">
            <a:noAutofit/>
          </a:bodyPr>
          <a:lstStyle>
            <a:lvl1pPr>
              <a:defRPr lang="en-US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5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3670"/>
            <a:ext cx="3657600" cy="136207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609600" y="0"/>
            <a:ext cx="365760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8404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89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MM.DD.YYYY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87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16"/>
            <a:ext cx="10972800" cy="4575159"/>
          </a:xfrm>
        </p:spPr>
        <p:txBody>
          <a:bodyPr>
            <a:noAutofit/>
          </a:bodyPr>
          <a:lstStyle>
            <a:lvl1pPr marL="398463" indent="-398463">
              <a:spcBef>
                <a:spcPts val="400"/>
              </a:spcBef>
              <a:defRPr sz="1900">
                <a:solidFill>
                  <a:schemeClr val="tx1"/>
                </a:solidFill>
              </a:defRPr>
            </a:lvl1pPr>
            <a:lvl2pPr marL="398463" indent="0">
              <a:buSzPct val="80000"/>
              <a:defRPr sz="1900"/>
            </a:lvl2pPr>
            <a:lvl3pPr marL="738188" indent="-171450">
              <a:buSzPct val="80000"/>
              <a:defRPr sz="1900"/>
            </a:lvl3pPr>
            <a:lvl4pPr marL="1087438" indent="-171450">
              <a:buSzPct val="80000"/>
              <a:defRPr sz="1900"/>
            </a:lvl4pPr>
            <a:lvl5pPr marL="1431925" indent="-171450">
              <a:buSzPct val="80000"/>
              <a:defRPr sz="1900"/>
            </a:lvl5pPr>
          </a:lstStyle>
          <a:p>
            <a:pPr lvl="0"/>
            <a:r>
              <a:rPr lang="en-US" dirty="0"/>
              <a:t>XX	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570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"/>
            <a:ext cx="12192000" cy="8350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800"/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0830338" y="290196"/>
            <a:ext cx="894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fld id="{675FC88E-5E7B-485A-9F37-AB992AC6987C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15"/>
          </p:nvPr>
        </p:nvSpPr>
        <p:spPr>
          <a:xfrm>
            <a:off x="409363" y="336452"/>
            <a:ext cx="5299287" cy="254206"/>
          </a:xfrm>
        </p:spPr>
        <p:txBody>
          <a:bodyPr/>
          <a:lstStyle>
            <a:lvl1pPr algn="l">
              <a:defRPr/>
            </a:lvl1pPr>
          </a:lstStyle>
          <a:p>
            <a:r>
              <a:rPr lang="nb-NO"/>
              <a:t>© NORDIC SEMICONDUCTOR    CONFIDENTIAL</a:t>
            </a:r>
            <a:endParaRPr lang="nb-NO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09364" y="1120776"/>
            <a:ext cx="11196320" cy="93662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09365" y="2209803"/>
            <a:ext cx="4962735" cy="366712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5708652" y="2209803"/>
            <a:ext cx="5897033" cy="366712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05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7396" y="6469955"/>
            <a:ext cx="3248416" cy="16344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604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7664451" cy="4575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67476"/>
            <a:ext cx="2844800" cy="16344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MM.DD.YYYY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" y="6467476"/>
            <a:ext cx="487680" cy="16344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4" descr="\\.psf\Home\Desktop\Avnet Materials \AvnetLogo.png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537" y="6439148"/>
            <a:ext cx="1267968" cy="18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43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2" r:id="rId5"/>
    <p:sldLayoutId id="2147483658" r:id="rId6"/>
    <p:sldLayoutId id="2147483660" r:id="rId7"/>
    <p:sldLayoutId id="2147483661" r:id="rId8"/>
    <p:sldLayoutId id="2147483662" r:id="rId9"/>
    <p:sldLayoutId id="2147483651" r:id="rId10"/>
    <p:sldLayoutId id="2147483654" r:id="rId11"/>
    <p:sldLayoutId id="2147483655" r:id="rId12"/>
    <p:sldLayoutId id="2147483659" r:id="rId13"/>
    <p:sldLayoutId id="2147483667" r:id="rId1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200"/>
        </a:spcBef>
        <a:buFont typeface="Arial" panose="020B0604020202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914400" rtl="0" eaLnBrk="1" latinLnBrk="0" hangingPunct="1">
        <a:spcBef>
          <a:spcPts val="200"/>
        </a:spcBef>
        <a:buSzPct val="8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71450" algn="l" defTabSz="914400" rtl="0" eaLnBrk="1" latinLnBrk="0" hangingPunct="1">
        <a:spcBef>
          <a:spcPts val="200"/>
        </a:spcBef>
        <a:buSzPct val="8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0613" indent="-171450" algn="l" defTabSz="914400" rtl="0" eaLnBrk="1" latinLnBrk="0" hangingPunct="1">
        <a:spcBef>
          <a:spcPts val="200"/>
        </a:spcBef>
        <a:buSzPct val="8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01FE2-F013-457F-A9EF-BCBEF8BC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37" y="359436"/>
            <a:ext cx="11153574" cy="476271"/>
          </a:xfrm>
        </p:spPr>
        <p:txBody>
          <a:bodyPr/>
          <a:lstStyle/>
          <a:p>
            <a:r>
              <a:rPr lang="en-US" altLang="zh-CN" sz="3200" b="1" dirty="0"/>
              <a:t>QSPI LCD Display Demo</a:t>
            </a:r>
            <a:endParaRPr lang="zh-CN" alt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86B1A-EF94-4042-B292-C1EBE83A14F3}"/>
              </a:ext>
            </a:extLst>
          </p:cNvPr>
          <p:cNvSpPr/>
          <p:nvPr/>
        </p:nvSpPr>
        <p:spPr>
          <a:xfrm>
            <a:off x="323952" y="4489487"/>
            <a:ext cx="5772049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Overview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3AB35-7708-4399-A9B3-6A032EAD1553}"/>
              </a:ext>
            </a:extLst>
          </p:cNvPr>
          <p:cNvSpPr/>
          <p:nvPr/>
        </p:nvSpPr>
        <p:spPr>
          <a:xfrm>
            <a:off x="6390941" y="5363719"/>
            <a:ext cx="5372233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Target Application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BE55D-F99D-47E4-8F9B-2AA7C9BB5BF4}"/>
              </a:ext>
            </a:extLst>
          </p:cNvPr>
          <p:cNvSpPr/>
          <p:nvPr/>
        </p:nvSpPr>
        <p:spPr>
          <a:xfrm>
            <a:off x="6279722" y="1299018"/>
            <a:ext cx="5332871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Key Features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9B5F6-0279-4A0F-B12D-3DAC10A791F2}"/>
              </a:ext>
            </a:extLst>
          </p:cNvPr>
          <p:cNvSpPr txBox="1"/>
          <p:nvPr/>
        </p:nvSpPr>
        <p:spPr>
          <a:xfrm>
            <a:off x="428826" y="4894300"/>
            <a:ext cx="5772049" cy="176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/>
              <a:t>LCD </a:t>
            </a:r>
            <a:r>
              <a:rPr lang="zh-CN" altLang="en-US" sz="1600" dirty="0"/>
              <a:t>和 </a:t>
            </a:r>
            <a:r>
              <a:rPr lang="en-US" altLang="zh-CN" sz="1600" dirty="0"/>
              <a:t>flash </a:t>
            </a:r>
            <a:r>
              <a:rPr lang="zh-CN" altLang="en-US" sz="1600" dirty="0"/>
              <a:t>共用</a:t>
            </a:r>
            <a:r>
              <a:rPr lang="en-US" altLang="zh-CN" sz="1600" dirty="0"/>
              <a:t>QSPI</a:t>
            </a:r>
            <a:r>
              <a:rPr lang="zh-CN" altLang="en-US" sz="1600" dirty="0"/>
              <a:t>接口，通过分时复用的方式将</a:t>
            </a:r>
            <a:r>
              <a:rPr lang="en-US" altLang="zh-CN" sz="1600" dirty="0"/>
              <a:t>flash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</a:t>
            </a:r>
            <a:r>
              <a:rPr lang="zh-CN" altLang="en-US" sz="1600" dirty="0"/>
              <a:t>中</a:t>
            </a:r>
            <a:r>
              <a:rPr lang="en-US" altLang="zh-CN" sz="1600" dirty="0"/>
              <a:t>UI</a:t>
            </a:r>
            <a:r>
              <a:rPr lang="zh-CN" altLang="en-US" sz="1600" dirty="0"/>
              <a:t>数据传输到</a:t>
            </a:r>
            <a:r>
              <a:rPr lang="en-US" altLang="zh-CN" sz="1600" dirty="0"/>
              <a:t>LCD</a:t>
            </a:r>
            <a:r>
              <a:rPr lang="zh-CN" altLang="en-US" sz="1600" dirty="0"/>
              <a:t>显示出来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/>
              <a:t>LCD</a:t>
            </a:r>
            <a:r>
              <a:rPr lang="zh-CN" altLang="en-US" sz="1600" dirty="0"/>
              <a:t>和</a:t>
            </a:r>
            <a:r>
              <a:rPr lang="en-US" altLang="zh-CN" sz="1600" dirty="0"/>
              <a:t>Flash</a:t>
            </a:r>
            <a:r>
              <a:rPr lang="zh-CN" altLang="en-US" sz="1600" dirty="0"/>
              <a:t>可以共用</a:t>
            </a:r>
            <a:r>
              <a:rPr lang="en-US" altLang="zh-CN" sz="1600" dirty="0"/>
              <a:t>QSPI Pin</a:t>
            </a:r>
            <a:r>
              <a:rPr lang="zh-CN" altLang="en-US" sz="1600" dirty="0"/>
              <a:t>，也可以分开映射到两组</a:t>
            </a:r>
            <a:r>
              <a:rPr lang="en-US" altLang="zh-CN" sz="1600" dirty="0"/>
              <a:t>GPIO</a:t>
            </a:r>
            <a:r>
              <a:rPr lang="zh-CN" altLang="en-US" sz="1600" dirty="0"/>
              <a:t>上，</a:t>
            </a:r>
            <a:r>
              <a:rPr lang="en-US" altLang="zh-CN" sz="1600" dirty="0"/>
              <a:t>QSPI</a:t>
            </a:r>
            <a:r>
              <a:rPr lang="zh-CN" altLang="en-US" sz="1600" dirty="0"/>
              <a:t>引脚需要用高速</a:t>
            </a:r>
            <a:r>
              <a:rPr lang="en-US" altLang="zh-CN" sz="1600" dirty="0"/>
              <a:t>GPIO</a:t>
            </a:r>
            <a:r>
              <a:rPr lang="zh-CN" altLang="en-US" sz="1600" dirty="0"/>
              <a:t>口</a:t>
            </a:r>
            <a:endParaRPr lang="en-US" altLang="zh-CN" sz="1600" dirty="0"/>
          </a:p>
          <a:p>
            <a:endParaRPr lang="zh-CN" altLang="en-US" sz="18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B5F83-1C67-4791-A288-5FB09B3338ED}"/>
              </a:ext>
            </a:extLst>
          </p:cNvPr>
          <p:cNvSpPr txBox="1"/>
          <p:nvPr/>
        </p:nvSpPr>
        <p:spPr>
          <a:xfrm>
            <a:off x="6300842" y="1831384"/>
            <a:ext cx="5688292" cy="33778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/>
              <a:t>nRF52840 </a:t>
            </a:r>
            <a:r>
              <a:rPr lang="zh-CN" altLang="en-US" sz="1600" dirty="0"/>
              <a:t>支持</a:t>
            </a:r>
            <a:r>
              <a:rPr lang="en-US" altLang="zh-CN" sz="1600" dirty="0"/>
              <a:t>32Mhz QSPI</a:t>
            </a:r>
            <a:r>
              <a:rPr lang="zh-CN" altLang="en-US" sz="1600" dirty="0"/>
              <a:t>，</a:t>
            </a:r>
            <a:r>
              <a:rPr lang="en-US" altLang="zh-CN" sz="1600" dirty="0"/>
              <a:t>HSPI</a:t>
            </a:r>
            <a:r>
              <a:rPr lang="zh-CN" altLang="en-US" sz="1600" dirty="0"/>
              <a:t>，</a:t>
            </a:r>
            <a:r>
              <a:rPr lang="en-US" altLang="zh-CN" sz="1600" dirty="0"/>
              <a:t>64MHz </a:t>
            </a:r>
            <a:r>
              <a:rPr lang="zh-CN" altLang="en-US" sz="1600" dirty="0"/>
              <a:t>主频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/>
              <a:t>nRF52840</a:t>
            </a:r>
            <a:r>
              <a:rPr lang="zh-CN" altLang="en-US" sz="1600" dirty="0"/>
              <a:t>支持内部</a:t>
            </a:r>
            <a:r>
              <a:rPr lang="en-US" altLang="zh-CN" sz="1600" dirty="0"/>
              <a:t>1MB flash </a:t>
            </a:r>
            <a:r>
              <a:rPr lang="zh-CN" altLang="en-US" sz="1600" dirty="0"/>
              <a:t>和 </a:t>
            </a:r>
            <a:r>
              <a:rPr lang="en-US" altLang="zh-CN" sz="1600" dirty="0"/>
              <a:t>256kB RAM</a:t>
            </a:r>
            <a:r>
              <a:rPr lang="zh-CN" altLang="en-US" sz="1600" dirty="0"/>
              <a:t>和外部</a:t>
            </a:r>
            <a:r>
              <a:rPr lang="en-US" altLang="zh-CN" sz="1600" dirty="0"/>
              <a:t>QSPI flash</a:t>
            </a:r>
            <a:r>
              <a:rPr lang="zh-CN" altLang="en-US" sz="1600" dirty="0"/>
              <a:t>扩展功能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/>
              <a:t>LCD display Demo </a:t>
            </a:r>
            <a:r>
              <a:rPr lang="zh-CN" altLang="en-US" sz="1600" dirty="0"/>
              <a:t>的主要特性：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支持最大</a:t>
            </a:r>
            <a:r>
              <a:rPr lang="en-US" altLang="zh-CN" sz="1400" dirty="0"/>
              <a:t>LCD</a:t>
            </a:r>
            <a:r>
              <a:rPr lang="zh-CN" altLang="en-US" sz="1400" dirty="0"/>
              <a:t>分辩率是 </a:t>
            </a:r>
            <a:r>
              <a:rPr lang="en-US" altLang="zh-CN" sz="1400" dirty="0"/>
              <a:t>368x448x16bit, RGB565</a:t>
            </a:r>
            <a:r>
              <a:rPr lang="zh-CN" altLang="en-US" sz="1400" dirty="0"/>
              <a:t>格式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从</a:t>
            </a:r>
            <a:r>
              <a:rPr lang="en-US" altLang="zh-CN" sz="1400" dirty="0"/>
              <a:t>nRF52840</a:t>
            </a:r>
            <a:r>
              <a:rPr lang="zh-CN" altLang="en-US" sz="1400" dirty="0"/>
              <a:t>内部</a:t>
            </a:r>
            <a:r>
              <a:rPr lang="en-US" altLang="zh-CN" sz="1400" dirty="0"/>
              <a:t>flash</a:t>
            </a:r>
            <a:r>
              <a:rPr lang="zh-CN" altLang="en-US" sz="1400" dirty="0"/>
              <a:t>读整张图片显示到</a:t>
            </a:r>
            <a:r>
              <a:rPr lang="en-US" altLang="zh-CN" sz="1400" dirty="0"/>
              <a:t>LCD</a:t>
            </a:r>
            <a:r>
              <a:rPr lang="zh-CN" altLang="en-US" sz="1400" dirty="0"/>
              <a:t>的总时间是</a:t>
            </a:r>
            <a:r>
              <a:rPr lang="en-US" altLang="zh-CN" sz="1400" dirty="0"/>
              <a:t>31ms, </a:t>
            </a:r>
            <a:r>
              <a:rPr lang="zh-CN" altLang="en-US" sz="1400" dirty="0"/>
              <a:t>即每秒约</a:t>
            </a:r>
            <a:r>
              <a:rPr lang="en-US" altLang="zh-CN" sz="1400" dirty="0"/>
              <a:t>32</a:t>
            </a:r>
            <a:r>
              <a:rPr lang="zh-CN" altLang="en-US" sz="1400" dirty="0"/>
              <a:t>帧左右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从</a:t>
            </a:r>
            <a:r>
              <a:rPr lang="en-US" altLang="zh-CN" sz="1400" dirty="0"/>
              <a:t>QSPI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flash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里读整幅图片再切换</a:t>
            </a:r>
            <a:r>
              <a:rPr lang="en-US" altLang="zh-CN" sz="1400" dirty="0"/>
              <a:t>QSPI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引脚显示到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LCD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上的总时间大约是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49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ms,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即每秒大约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20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帧左右</a:t>
            </a:r>
            <a:endParaRPr lang="en-US" altLang="zh-CN" sz="14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支持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Little VGL GUI</a:t>
            </a:r>
            <a:endParaRPr lang="en-US" altLang="zh-C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4D870-CDAD-427A-9DAD-9F238011929B}"/>
              </a:ext>
            </a:extLst>
          </p:cNvPr>
          <p:cNvSpPr txBox="1"/>
          <p:nvPr/>
        </p:nvSpPr>
        <p:spPr>
          <a:xfrm>
            <a:off x="6509593" y="5908731"/>
            <a:ext cx="2340384" cy="3254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dirty="0"/>
              <a:t>中，高端智能穿戴设备</a:t>
            </a:r>
            <a:endParaRPr lang="en-US" altLang="zh-CN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CDF69CF-207B-4293-80FC-71EDA0C27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67" y="1348784"/>
            <a:ext cx="3827780" cy="2677392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BB49CB5-4D02-4F88-8B0C-28C970A4C1F8}"/>
              </a:ext>
            </a:extLst>
          </p:cNvPr>
          <p:cNvCxnSpPr>
            <a:cxnSpLocks/>
          </p:cNvCxnSpPr>
          <p:nvPr/>
        </p:nvCxnSpPr>
        <p:spPr>
          <a:xfrm>
            <a:off x="428826" y="1075765"/>
            <a:ext cx="11183767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05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01FE2-F013-457F-A9EF-BCBEF8BC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24" y="327949"/>
            <a:ext cx="10972800" cy="574711"/>
          </a:xfrm>
        </p:spPr>
        <p:txBody>
          <a:bodyPr/>
          <a:lstStyle/>
          <a:p>
            <a:r>
              <a:rPr lang="en-US" altLang="zh-CN" dirty="0"/>
              <a:t>BLE Audio Player Demo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ACEC2C-79FB-459F-8049-A00482907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951" y="1363663"/>
            <a:ext cx="5876924" cy="31258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D86B1A-EF94-4042-B292-C1EBE83A14F3}"/>
              </a:ext>
            </a:extLst>
          </p:cNvPr>
          <p:cNvSpPr/>
          <p:nvPr/>
        </p:nvSpPr>
        <p:spPr>
          <a:xfrm>
            <a:off x="323952" y="4489487"/>
            <a:ext cx="5772049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Overview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3AB35-7708-4399-A9B3-6A032EAD1553}"/>
              </a:ext>
            </a:extLst>
          </p:cNvPr>
          <p:cNvSpPr/>
          <p:nvPr/>
        </p:nvSpPr>
        <p:spPr>
          <a:xfrm>
            <a:off x="6598086" y="5575264"/>
            <a:ext cx="5372233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Target Application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BE55D-F99D-47E4-8F9B-2AA7C9BB5BF4}"/>
              </a:ext>
            </a:extLst>
          </p:cNvPr>
          <p:cNvSpPr/>
          <p:nvPr/>
        </p:nvSpPr>
        <p:spPr>
          <a:xfrm>
            <a:off x="6656263" y="1348784"/>
            <a:ext cx="5332871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nRF52840 Key Features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9B5F6-0279-4A0F-B12D-3DAC10A791F2}"/>
              </a:ext>
            </a:extLst>
          </p:cNvPr>
          <p:cNvSpPr txBox="1"/>
          <p:nvPr/>
        </p:nvSpPr>
        <p:spPr>
          <a:xfrm>
            <a:off x="428826" y="4894300"/>
            <a:ext cx="5772049" cy="1764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This demo mainly realizes audio or voice playback between two nRF52840-DK boards by transferring ADPCM data streams over BLE5.0 protocol..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The audio sampling rate is 16kHz, audio data is 16bit.</a:t>
            </a:r>
          </a:p>
          <a:p>
            <a:endParaRPr lang="zh-CN" altLang="en-US" sz="18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B5F83-1C67-4791-A288-5FB09B3338ED}"/>
              </a:ext>
            </a:extLst>
          </p:cNvPr>
          <p:cNvSpPr txBox="1"/>
          <p:nvPr/>
        </p:nvSpPr>
        <p:spPr>
          <a:xfrm>
            <a:off x="6680301" y="1780165"/>
            <a:ext cx="5332871" cy="36837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67" dirty="0"/>
              <a:t>•   ARM® Cortex®-M4 32-bit processor with FPU, 64 MHz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/>
              <a:t>1 MB flash and 256 kB RAM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/>
              <a:t>Supported BLE5.0 :2 Mbps, 1 Mbps, 500 kbps, and 125 kbps</a:t>
            </a:r>
          </a:p>
          <a:p>
            <a:pPr>
              <a:lnSpc>
                <a:spcPct val="150000"/>
              </a:lnSpc>
            </a:pPr>
            <a:r>
              <a:rPr lang="en-US" altLang="zh-CN" sz="1467" dirty="0"/>
              <a:t>•   IEEE 802.15.4-2006: 250 kbps</a:t>
            </a:r>
          </a:p>
          <a:p>
            <a:pPr>
              <a:lnSpc>
                <a:spcPct val="150000"/>
              </a:lnSpc>
            </a:pPr>
            <a:r>
              <a:rPr lang="en-US" altLang="zh-CN" sz="1467" dirty="0"/>
              <a:t>•   Proprietary 2.4 GHz: 2 Mbps, 1 Mbps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zh-CN" sz="1467" dirty="0"/>
              <a:t>Supported audio peripherals: I2S, PDM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/>
              <a:t>USB 2.0 full speed (12 Mbps) controller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/>
              <a:t>QSPI 32 MHz interface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/>
              <a:t>High-speed 32 MHz SPI</a:t>
            </a:r>
          </a:p>
          <a:p>
            <a:pPr marL="228594" indent="-22859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 err="1"/>
              <a:t>EasyDMA</a:t>
            </a:r>
            <a:r>
              <a:rPr lang="en-US" altLang="zh-CN" sz="1467" dirty="0"/>
              <a:t> automated data transfer between memory and</a:t>
            </a:r>
          </a:p>
          <a:p>
            <a:pPr>
              <a:lnSpc>
                <a:spcPct val="150000"/>
              </a:lnSpc>
            </a:pPr>
            <a:r>
              <a:rPr lang="en-US" altLang="zh-CN" sz="1467" dirty="0"/>
              <a:t>     peripherals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4D870-CDAD-427A-9DAD-9F238011929B}"/>
              </a:ext>
            </a:extLst>
          </p:cNvPr>
          <p:cNvSpPr txBox="1"/>
          <p:nvPr/>
        </p:nvSpPr>
        <p:spPr>
          <a:xfrm>
            <a:off x="6680301" y="5965790"/>
            <a:ext cx="2255297" cy="6930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Voice remote control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Voice recorder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0959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01FE2-F013-457F-A9EF-BCBEF8BC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22" y="96848"/>
            <a:ext cx="10972800" cy="574711"/>
          </a:xfrm>
        </p:spPr>
        <p:txBody>
          <a:bodyPr/>
          <a:lstStyle/>
          <a:p>
            <a:r>
              <a:rPr lang="en-US" altLang="zh-CN" b="1" dirty="0"/>
              <a:t>AVT9152 Evaluation Kit</a:t>
            </a:r>
            <a:endParaRPr lang="zh-CN" alt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86B1A-EF94-4042-B292-C1EBE83A14F3}"/>
              </a:ext>
            </a:extLst>
          </p:cNvPr>
          <p:cNvSpPr/>
          <p:nvPr/>
        </p:nvSpPr>
        <p:spPr>
          <a:xfrm>
            <a:off x="162625" y="4675177"/>
            <a:ext cx="5680956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Overview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3AB35-7708-4399-A9B3-6A032EAD1553}"/>
              </a:ext>
            </a:extLst>
          </p:cNvPr>
          <p:cNvSpPr/>
          <p:nvPr/>
        </p:nvSpPr>
        <p:spPr>
          <a:xfrm>
            <a:off x="6419093" y="4266425"/>
            <a:ext cx="5372233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Target Application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BE55D-F99D-47E4-8F9B-2AA7C9BB5BF4}"/>
              </a:ext>
            </a:extLst>
          </p:cNvPr>
          <p:cNvSpPr/>
          <p:nvPr/>
        </p:nvSpPr>
        <p:spPr>
          <a:xfrm>
            <a:off x="6415179" y="689986"/>
            <a:ext cx="5332871" cy="390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1867" b="1" dirty="0">
                <a:solidFill>
                  <a:schemeClr val="bg1"/>
                </a:solidFill>
              </a:rPr>
              <a:t>Features</a:t>
            </a:r>
            <a:endParaRPr lang="zh-CN" altLang="en-US" sz="1867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9B5F6-0279-4A0F-B12D-3DAC10A791F2}"/>
              </a:ext>
            </a:extLst>
          </p:cNvPr>
          <p:cNvSpPr txBox="1"/>
          <p:nvPr/>
        </p:nvSpPr>
        <p:spPr>
          <a:xfrm>
            <a:off x="221681" y="5012661"/>
            <a:ext cx="5621283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sz="14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AES-CELLIOT-AVT9152KIT is a handy kit that supports both evaluation and development with AVT9152 module. This sensor rich kit comes complete with SDK, </a:t>
            </a:r>
            <a:r>
              <a:rPr lang="en-US" altLang="zh-CN" sz="1400" b="0" i="0" u="none" strike="noStrike" baseline="0" dirty="0" err="1">
                <a:solidFill>
                  <a:srgbClr val="000000"/>
                </a:solidFill>
                <a:latin typeface="+mj-lt"/>
              </a:rPr>
              <a:t>eUICC</a:t>
            </a: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 SIM card with free subscription plan and Avnet’s always ready backend IoT Connect cloud platform with dashboard offers unprecedented end-to-end IoT out of box connection experience over LTE-M/NB-IoT network. 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B5F83-1C67-4791-A288-5FB09B3338ED}"/>
              </a:ext>
            </a:extLst>
          </p:cNvPr>
          <p:cNvSpPr txBox="1"/>
          <p:nvPr/>
        </p:nvSpPr>
        <p:spPr>
          <a:xfrm>
            <a:off x="6434859" y="924647"/>
            <a:ext cx="5643260" cy="3374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zh-CN" alt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nRF91 with LTE-M/NB-IoT global carrier certification and nRF52 BT5.0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Power save mode, PSM and </a:t>
            </a:r>
            <a:r>
              <a:rPr lang="en-US" altLang="zh-CN" sz="1400" b="0" i="0" u="none" strike="noStrike" baseline="0" dirty="0" err="1">
                <a:solidFill>
                  <a:srgbClr val="000000"/>
                </a:solidFill>
                <a:latin typeface="+mj-lt"/>
              </a:rPr>
              <a:t>eDRX</a:t>
            </a: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ARM® </a:t>
            </a:r>
            <a:r>
              <a:rPr lang="en-US" altLang="zh-CN" sz="1400" b="0" i="0" u="none" strike="noStrike" baseline="0" dirty="0" err="1">
                <a:solidFill>
                  <a:srgbClr val="000000"/>
                </a:solidFill>
                <a:latin typeface="+mj-lt"/>
              </a:rPr>
              <a:t>TrustZone</a:t>
            </a: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® security isolation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OTA support on both nRF91 and nRF52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Arduino interface for scalability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Onboard sensors - temperature, relative humidity, pressure, accelerometer, gyroscope, ambient light and motion  Low power design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 err="1">
                <a:solidFill>
                  <a:srgbClr val="000000"/>
                </a:solidFill>
                <a:latin typeface="+mj-lt"/>
              </a:rPr>
              <a:t>eUICC</a:t>
            </a: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 SIM card with free subscription plan for out of box network connection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SDK connecting to free Avnet IoT Connect platform for evaluation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Production ready with FCC, CE, RCM and BQB certified </a:t>
            </a:r>
          </a:p>
          <a:p>
            <a:pPr>
              <a:lnSpc>
                <a:spcPct val="150000"/>
              </a:lnSpc>
            </a:pPr>
            <a:endParaRPr lang="en-US" altLang="zh-CN" sz="14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4D870-CDAD-427A-9DAD-9F238011929B}"/>
              </a:ext>
            </a:extLst>
          </p:cNvPr>
          <p:cNvSpPr txBox="1"/>
          <p:nvPr/>
        </p:nvSpPr>
        <p:spPr>
          <a:xfrm>
            <a:off x="6415179" y="4566605"/>
            <a:ext cx="3710952" cy="1893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Tracking device – people, pet, assets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Vending machine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POS terminal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Smart building automation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Medical devices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b="0" i="0" u="none" strike="noStrike" baseline="0" dirty="0">
                <a:solidFill>
                  <a:srgbClr val="000000"/>
                </a:solidFill>
                <a:latin typeface="+mj-lt"/>
              </a:rPr>
              <a:t>Beacon based application - contact tracing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6EFCA09-B149-DD0E-BBD4-511E3BD2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81" y="622570"/>
            <a:ext cx="5555141" cy="405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79116"/>
      </p:ext>
    </p:extLst>
  </p:cSld>
  <p:clrMapOvr>
    <a:masterClrMapping/>
  </p:clrMapOvr>
</p:sld>
</file>

<file path=ppt/theme/theme1.xml><?xml version="1.0" encoding="utf-8"?>
<a:theme xmlns:a="http://schemas.openxmlformats.org/drawingml/2006/main" name="Avnet Template">
  <a:themeElements>
    <a:clrScheme name="Avnet">
      <a:dk1>
        <a:sysClr val="windowText" lastClr="000000"/>
      </a:dk1>
      <a:lt1>
        <a:sysClr val="window" lastClr="FFFFFF"/>
      </a:lt1>
      <a:dk2>
        <a:srgbClr val="8DDBA1"/>
      </a:dk2>
      <a:lt2>
        <a:srgbClr val="BFEBC9"/>
      </a:lt2>
      <a:accent1>
        <a:srgbClr val="41C363"/>
      </a:accent1>
      <a:accent2>
        <a:srgbClr val="80DCEB"/>
      </a:accent2>
      <a:accent3>
        <a:srgbClr val="FFD100"/>
      </a:accent3>
      <a:accent4>
        <a:srgbClr val="D2D2D2"/>
      </a:accent4>
      <a:accent5>
        <a:srgbClr val="919191"/>
      </a:accent5>
      <a:accent6>
        <a:srgbClr val="4D4D4D"/>
      </a:accent6>
      <a:hlink>
        <a:srgbClr val="41C363"/>
      </a:hlink>
      <a:folHlink>
        <a:srgbClr val="B3E7C0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 anchorCtr="0">
        <a:noAutofit/>
      </a:bodyPr>
      <a:lstStyle>
        <a:defPPr>
          <a:defRPr sz="1600" dirty="0" err="1">
            <a:solidFill>
              <a:schemeClr val="bg1"/>
            </a:solidFill>
          </a:defRPr>
        </a:defPPr>
      </a:lstStyle>
    </a:spDef>
    <a:lnDef>
      <a:spPr>
        <a:ln w="635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10943</TotalTime>
  <Words>522</Words>
  <Application>Microsoft Office PowerPoint</Application>
  <PresentationFormat>宽屏</PresentationFormat>
  <Paragraphs>60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</vt:lpstr>
      <vt:lpstr>Wingdings</vt:lpstr>
      <vt:lpstr>Avnet Template</vt:lpstr>
      <vt:lpstr>QSPI LCD Display Demo</vt:lpstr>
      <vt:lpstr>BLE Audio Player Demo</vt:lpstr>
      <vt:lpstr>AVT9152 Evaluation Kit</vt:lpstr>
    </vt:vector>
  </TitlesOfParts>
  <Company>Avnet,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overview</dc:title>
  <dc:creator>Wong, Alice (YEL)</dc:creator>
  <cp:lastModifiedBy>Li, Devin</cp:lastModifiedBy>
  <cp:revision>1574</cp:revision>
  <cp:lastPrinted>2021-07-12T02:07:33Z</cp:lastPrinted>
  <dcterms:created xsi:type="dcterms:W3CDTF">2017-04-04T04:10:00Z</dcterms:created>
  <dcterms:modified xsi:type="dcterms:W3CDTF">2026-09-15T05:15:39Z</dcterms:modified>
</cp:coreProperties>
</file>