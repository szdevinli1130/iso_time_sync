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873844" y="5305894"/>
            <a:ext cx="111976" cy="111976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32087" y="3118840"/>
            <a:ext cx="173954" cy="173954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173002" y="5003156"/>
            <a:ext cx="157380" cy="157380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287679" y="4757422"/>
            <a:ext cx="81743" cy="81743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319313" y="4329276"/>
            <a:ext cx="130052" cy="130052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90379" y="5251693"/>
            <a:ext cx="100196" cy="100196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486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nRF54L15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蓝牙 BIS 时间同步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00D4FF"/>
                </a:solidFill>
                <a:latin typeface="微软雅黑"/>
                <a:ea typeface="微软雅黑"/>
              </a:rPr>
              <a:t>机器人大脑与四肢关节</a:t>
            </a:r>
          </a:p>
          <a:p>
            <a:pPr algn="l"/>
            <a:r>
              <a:rPr sz="2200" b="0">
                <a:solidFill>
                  <a:srgbClr val="00D4FF"/>
                </a:solidFill>
                <a:latin typeface="微软雅黑"/>
                <a:ea typeface="微软雅黑"/>
              </a:rPr>
              <a:t>时钟同步 · 技术方案与演示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434840"/>
            <a:ext cx="2377440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4709160"/>
            <a:ext cx="1600200" cy="50292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0D4FF"/>
                </a:solidFill>
                <a:latin typeface="微软雅黑"/>
                <a:ea typeface="微软雅黑"/>
              </a:rPr>
              <a:t>BLE 5.2 ISO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23160" y="4709160"/>
            <a:ext cx="1600200" cy="50292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0D4FF"/>
                </a:solidFill>
                <a:latin typeface="微软雅黑"/>
                <a:ea typeface="微软雅黑"/>
              </a:rPr>
              <a:t>1 发 2 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06240" y="4709160"/>
            <a:ext cx="1600200" cy="50292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0D4FF"/>
                </a:solidFill>
                <a:latin typeface="微软雅黑"/>
                <a:ea typeface="微软雅黑"/>
              </a:rPr>
              <a:t>1µs 精度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4709160"/>
            <a:ext cx="1600200" cy="502920"/>
          </a:xfrm>
          <a:prstGeom prst="roundRect">
            <a:avLst/>
          </a:prstGeom>
          <a:solidFill>
            <a:srgbClr val="0E3052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0D4FF"/>
                </a:solidFill>
                <a:latin typeface="微软雅黑"/>
                <a:ea typeface="微软雅黑"/>
              </a:rPr>
              <a:t>200Hz 更新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12648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Nordic nRF Connect SDK v3.4.0 · nRF54L15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822960"/>
            <a:ext cx="5669280" cy="3977639"/>
          </a:xfrm>
          <a:prstGeom prst="roundRect">
            <a:avLst/>
          </a:prstGeom>
          <a:noFill/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rain_to_joint_clock_synchroni_2026-09-15T04-52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914400"/>
            <a:ext cx="54864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55448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5544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演示目标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96596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微秒级时间同步的目标与关键指标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8892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技术原理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0040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时间戳载体 + 时钟伺服 + 定时呈现（一页看懂）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402336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02336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系统架构与演示环境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4348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1 发 2 收架构 · 软硬件与工具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5257800"/>
            <a:ext cx="822960" cy="82296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25780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1A2B3C"/>
                </a:solidFill>
                <a:latin typeface="微软雅黑"/>
                <a:ea typeface="微软雅黑"/>
              </a:rPr>
              <a:t>实测数据与优势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66928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0µs 误差 · 应用场景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演示目标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OBJECTIVE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6035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146304" cy="14173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719072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2540"/>
                </a:solidFill>
                <a:latin typeface="微软雅黑"/>
                <a:ea typeface="微软雅黑"/>
              </a:rPr>
              <a:t>多节点统一时间基准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76272"/>
            <a:ext cx="5486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B7B"/>
                </a:solidFill>
                <a:latin typeface="微软雅黑"/>
                <a:ea typeface="微软雅黑"/>
              </a:rPr>
              <a:t>1 个发送端 + 2 个接收端，长期共享同一时间基准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54680"/>
            <a:ext cx="6035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54680"/>
            <a:ext cx="146304" cy="14173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319272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2540"/>
                </a:solidFill>
                <a:latin typeface="微软雅黑"/>
                <a:ea typeface="微软雅黑"/>
              </a:rPr>
              <a:t>微秒级打戳一致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776472"/>
            <a:ext cx="5486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B7B"/>
                </a:solidFill>
                <a:latin typeface="微软雅黑"/>
                <a:ea typeface="微软雅黑"/>
              </a:rPr>
              <a:t>三方对同一事件打出相同时间戳，精度约 1µs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54880"/>
            <a:ext cx="6035040" cy="14173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46304" cy="141732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919472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2540"/>
                </a:solidFill>
                <a:latin typeface="微软雅黑"/>
                <a:ea typeface="微软雅黑"/>
              </a:rPr>
              <a:t>硬件级确定性呈现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376672"/>
            <a:ext cx="54864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6B7B"/>
                </a:solidFill>
                <a:latin typeface="微软雅黑"/>
                <a:ea typeface="微软雅黑"/>
              </a:rPr>
              <a:t>P1.10 输出 1µs 窄脉冲，边沿对齐可被逻辑分析仪直观观测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1463040"/>
            <a:ext cx="4846320" cy="4846320"/>
          </a:xfrm>
          <a:prstGeom prst="roundRect">
            <a:avLst/>
          </a:prstGeom>
          <a:noFill/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Brain_to_joint_clock_synchroni_2026-09-15T04-52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554480"/>
            <a:ext cx="466344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什么是 BLE BIS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BROADCAST ISOCHRONOUS STREAM · 规范解读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539496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63040"/>
            <a:ext cx="5394960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5394960" cy="548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定义与规范依据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49377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BIS = Broadcast Isochronous Stream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广播等时流，BLE 5.2 引入的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LE Isochronous Channels（LE-ISO）特性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/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多条 BIS 组成一个 BIG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（Broadcast Isochronous Group），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一对多广播，无需连接/回传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/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规范：Bluetooth Core Spec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Vol 6 Part G（Isochronous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Adaptation Layer，ISOAL）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/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核心机制：以固定 ISO_Interval 发送 SDU，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  BIG 锚点作为同步参考时间基准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63040"/>
            <a:ext cx="5349240" cy="4892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463040"/>
            <a:ext cx="5349240" cy="54864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463040"/>
            <a:ext cx="5349240" cy="54864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关键参数与同步流程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03120"/>
            <a:ext cx="49377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关键参数：ISO_Interval（5ms~4s，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步进 1.25ms）· SDU_Interval · RTN · NSE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Max Transport Latency · 2M PHY</a:t>
            </a:r>
          </a:p>
        </p:txBody>
      </p:sp>
      <p:sp>
        <p:nvSpPr>
          <p:cNvPr id="14" name="Oval 13"/>
          <p:cNvSpPr/>
          <p:nvPr/>
        </p:nvSpPr>
        <p:spPr>
          <a:xfrm>
            <a:off x="6492240" y="3474720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3429000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Broadcaster 发 periodic adv</a:t>
            </a:r>
          </a:p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（携带 BIGInfo 控制信息）</a:t>
            </a:r>
          </a:p>
        </p:txBody>
      </p:sp>
      <p:sp>
        <p:nvSpPr>
          <p:cNvPr id="16" name="Oval 15"/>
          <p:cNvSpPr/>
          <p:nvPr/>
        </p:nvSpPr>
        <p:spPr>
          <a:xfrm>
            <a:off x="6492240" y="4050791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4005072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Sync Receiver 扫描并</a:t>
            </a:r>
          </a:p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同步 Periodic Advertising</a:t>
            </a:r>
          </a:p>
        </p:txBody>
      </p:sp>
      <p:sp>
        <p:nvSpPr>
          <p:cNvPr id="18" name="Oval 17"/>
          <p:cNvSpPr/>
          <p:nvPr/>
        </p:nvSpPr>
        <p:spPr>
          <a:xfrm>
            <a:off x="6492240" y="4626864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4581144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按 BIGInfo 建立 BIG 同步</a:t>
            </a:r>
          </a:p>
        </p:txBody>
      </p:sp>
      <p:sp>
        <p:nvSpPr>
          <p:cNvPr id="20" name="Oval 19"/>
          <p:cNvSpPr/>
          <p:nvPr/>
        </p:nvSpPr>
        <p:spPr>
          <a:xfrm>
            <a:off x="6492240" y="5202936"/>
            <a:ext cx="457200" cy="457200"/>
          </a:xfrm>
          <a:prstGeom prst="ellipse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5157216"/>
            <a:ext cx="4389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定时接收 SDU，BIG 锚点</a:t>
            </a:r>
          </a:p>
          <a:p>
            <a:pPr algn="l"/>
            <a:r>
              <a:rPr sz="1050" b="0">
                <a:solidFill>
                  <a:srgbClr val="1A2B3C"/>
                </a:solidFill>
                <a:latin typeface="微软雅黑"/>
                <a:ea typeface="微软雅黑"/>
              </a:rPr>
              <a:t>作为时间基准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技术原理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PRINCIPLE · 一页看懂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91840" cy="105156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发送端 TX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SDU = [trigger][counter][tx_ts]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417320"/>
            <a:ext cx="3291840" cy="1051560"/>
          </a:xfrm>
          <a:prstGeom prst="round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接收端 RX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解析 → 时钟伺服 → shared_ts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1938528"/>
            <a:ext cx="4206240" cy="0"/>
          </a:xfrm>
          <a:prstGeom prst="line">
            <a:avLst/>
          </a:prstGeom>
          <a:ln w="38100">
            <a:solidFill>
              <a:srgbClr val="00D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931920" y="118872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BIS 广播（5ms 间隔）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3474720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① 时间戳载体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20440"/>
            <a:ext cx="3017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发送端把 SDU 同步参考时间戳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tx_ts 写入 payload；接收端拿到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同一瞬间的本地读数 info-&gt;ts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50749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86FF"/>
                </a:solidFill>
                <a:latin typeface="微软雅黑"/>
                <a:ea typeface="微软雅黑"/>
              </a:rPr>
              <a:t>参考对 (tx_ts, info-&gt;ts)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59" y="2880360"/>
            <a:ext cx="3474720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59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59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② 时钟伺服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3520440"/>
            <a:ext cx="3017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offset = 发送端时钟 − 接收端时钟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中位数估计 + ppm 漂移估计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外推到当前时刻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59" y="50749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86FF"/>
                </a:solidFill>
                <a:latin typeface="微软雅黑"/>
                <a:ea typeface="微软雅黑"/>
              </a:rPr>
              <a:t>shared = local + offset + drift×age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2880360"/>
            <a:ext cx="3474720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2880360"/>
            <a:ext cx="34747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③ 定时呈现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520440"/>
            <a:ext cx="30175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GRTC → DPPI → GPIOTE 硬件链路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在 presentation 时刻驱动 P1.10</a:t>
            </a:r>
          </a:p>
          <a:p>
            <a:pPr algn="l"/>
            <a:r>
              <a:rPr sz="1150" b="0">
                <a:solidFill>
                  <a:srgbClr val="1A2B3C"/>
                </a:solidFill>
                <a:latin typeface="微软雅黑"/>
                <a:ea typeface="微软雅黑"/>
              </a:rPr>
              <a:t>免软件线程抖动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5074920"/>
            <a:ext cx="3017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2E86FF"/>
                </a:solidFill>
                <a:latin typeface="微软雅黑"/>
                <a:ea typeface="微软雅黑"/>
              </a:rPr>
              <a:t>GRTC → DPPI → GPIOTE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关键：tx_ts 与 info-&gt;ts 是同一物理瞬间（BIG 锚点）在两个自由运行时钟下的读数 → 据此估计偏移与漂移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系统架构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ARCHITECTURE · 1 发 2 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2377440" cy="6400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发送端 TX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触发事件生成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组包(嵌入时间戳)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11480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BIS 广播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83480"/>
            <a:ext cx="237744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本地定时呈现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08960" y="3931920"/>
            <a:ext cx="1737360" cy="0"/>
          </a:xfrm>
          <a:prstGeom prst="line">
            <a:avLst/>
          </a:prstGeom>
          <a:ln w="38100">
            <a:solidFill>
              <a:srgbClr val="00D4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17520" y="4114800"/>
            <a:ext cx="2011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BIS 广播</a:t>
            </a:r>
          </a:p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(5ms 间隔)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554480"/>
            <a:ext cx="2926080" cy="640080"/>
          </a:xfrm>
          <a:prstGeom prst="round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接收端 RX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237744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解析 SDU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24612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时钟伺服(offset/drift)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20640" y="411480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shared_ts 打戳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20640" y="498348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P1.10 定时呈现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03920" y="1554480"/>
            <a:ext cx="2926080" cy="640080"/>
          </a:xfrm>
          <a:prstGeom prst="round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接收端 RX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37744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解析 SDU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324612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时钟伺服(offset/drift)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411480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shared_ts 打戳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4983480"/>
            <a:ext cx="2926080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0A2540"/>
                </a:solidFill>
                <a:latin typeface="微软雅黑"/>
                <a:ea typeface="微软雅黑"/>
              </a:rPr>
              <a:t>P1.10 定时呈现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Demo 环境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SOFTWARE · HARDWARE · TOOLS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27432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2743200" cy="640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2743200" cy="640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硬件 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77440"/>
            <a:ext cx="2377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nRF54L15-DK × 3（1 发 + 2 收）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USB 数据线 × 3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逻辑分析仪（≥ 20MS/s）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杜邦线 / 测试探针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1554480"/>
            <a:ext cx="27432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1554480"/>
            <a:ext cx="2743200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37560" y="1554480"/>
            <a:ext cx="2743200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软件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377440"/>
            <a:ext cx="2377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nRF Connect SDK v3.4.0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Zephyr RTOS 4.4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本工程固件 zephyr.hex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编译：west build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54480"/>
            <a:ext cx="27432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54480"/>
            <a:ext cx="2743200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554480"/>
            <a:ext cx="2743200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工具 Tools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377440"/>
            <a:ext cx="237744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nrfutil（烧录 / 复位）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串口终端（PuTTY / minicom）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逻辑分析仪软件（Saleae 等）</a:t>
            </a:r>
          </a:p>
          <a:p>
            <a:pPr algn="l"/>
            <a:r>
              <a:rPr sz="1200" b="0">
                <a:solidFill>
                  <a:srgbClr val="1A2B3C"/>
                </a:solidFill>
                <a:latin typeface="微软雅黑"/>
                <a:ea typeface="微软雅黑"/>
              </a:rPr>
              <a:t>• Python（文档/图表生成）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280" y="1554480"/>
            <a:ext cx="2743200" cy="4297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evelopment_board_and_logic_an_2026-09-15T04-52-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1691640"/>
            <a:ext cx="2468880" cy="2468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189719" y="4297680"/>
            <a:ext cx="2560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实测搭建：大脑主控板</a:t>
            </a:r>
          </a:p>
          <a:p>
            <a:pPr algn="ctr"/>
            <a:r>
              <a:rPr sz="1200" b="0">
                <a:solidFill>
                  <a:srgbClr val="5A6B7B"/>
                </a:solidFill>
                <a:latin typeface="微软雅黑"/>
                <a:ea typeface="微软雅黑"/>
              </a:rPr>
              <a:t>+ 关节节点 + 逻辑分析仪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演示效果：三通道脉冲边沿对齐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2011680" cy="91440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190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TX  发送端</a:t>
            </a:r>
          </a:p>
        </p:txBody>
      </p:sp>
      <p:sp>
        <p:nvSpPr>
          <p:cNvPr id="5" name="Rectangle 4"/>
          <p:cNvSpPr/>
          <p:nvPr/>
        </p:nvSpPr>
        <p:spPr>
          <a:xfrm>
            <a:off x="2377440" y="2103120"/>
            <a:ext cx="8778240" cy="45720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40480" y="1783079"/>
            <a:ext cx="201168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35040" y="1783079"/>
            <a:ext cx="201168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1783079"/>
            <a:ext cx="201168" cy="640080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0779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RX1 接收端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3291840"/>
            <a:ext cx="8778240" cy="45720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0" y="297180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97180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297180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09651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微软雅黑"/>
                <a:ea typeface="微软雅黑"/>
              </a:rPr>
              <a:t>RX2 接收端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7440" y="4480560"/>
            <a:ext cx="8778240" cy="45720"/>
          </a:xfrm>
          <a:prstGeom prst="rect">
            <a:avLst/>
          </a:prstGeom>
          <a:solidFill>
            <a:srgbClr val="5A6B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40480" y="416052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416052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4160520"/>
            <a:ext cx="201168" cy="640080"/>
          </a:xfrm>
          <a:prstGeom prst="rect">
            <a:avLst/>
          </a:prstGeom>
          <a:solidFill>
            <a:srgbClr val="2E8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41063" y="1371600"/>
            <a:ext cx="18288" cy="3749039"/>
          </a:xfrm>
          <a:prstGeom prst="rect">
            <a:avLst/>
          </a:prstGeom>
          <a:solidFill>
            <a:srgbClr val="406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35624" y="1371600"/>
            <a:ext cx="18288" cy="3749039"/>
          </a:xfrm>
          <a:prstGeom prst="rect">
            <a:avLst/>
          </a:prstGeom>
          <a:solidFill>
            <a:srgbClr val="406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30183" y="1371600"/>
            <a:ext cx="18288" cy="3749039"/>
          </a:xfrm>
          <a:prstGeom prst="rect">
            <a:avLst/>
          </a:prstGeom>
          <a:solidFill>
            <a:srgbClr val="406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00D4FF"/>
                </a:solidFill>
                <a:latin typeface="微软雅黑"/>
                <a:ea typeface="微软雅黑"/>
              </a:rPr>
              <a:t>三通道脉冲上升沿基本重合 —— 边沿时间差即同步误差（µs 级）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实测数据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MEASURED RESULT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4572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200" b="1">
                <a:solidFill>
                  <a:srgbClr val="1F6FEB"/>
                </a:solidFill>
                <a:latin typeface="微软雅黑"/>
                <a:ea typeface="微软雅黑"/>
              </a:rPr>
              <a:t>0 µs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200400"/>
            <a:ext cx="4572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2B3C"/>
                </a:solidFill>
                <a:latin typeface="微软雅黑"/>
                <a:ea typeface="微软雅黑"/>
              </a:rPr>
              <a:t>时间戳一致误差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737360"/>
            <a:ext cx="5669280" cy="31089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1920240"/>
            <a:ext cx="51206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00D4FF"/>
                </a:solidFill>
                <a:latin typeface="微软雅黑"/>
                <a:ea typeface="微软雅黑"/>
              </a:rPr>
              <a:t>TX: Sent SDU counter 205600</a:t>
            </a:r>
          </a:p>
          <a:p>
            <a:pPr algn="l"/>
            <a:r>
              <a:rPr sz="1400" b="0">
                <a:solidFill>
                  <a:srgbClr val="00D4FF"/>
                </a:solidFill>
                <a:latin typeface="微软雅黑"/>
                <a:ea typeface="微软雅黑"/>
              </a:rPr>
              <a:t>     timestamp 1028163407 us</a:t>
            </a:r>
          </a:p>
          <a:p>
            <a:pPr algn="l"/>
            <a:r>
              <a:rPr sz="1400" b="0">
                <a:solidFill>
                  <a:srgbClr val="00D4FF"/>
                </a:solidFill>
                <a:latin typeface="微软雅黑"/>
                <a:ea typeface="微软雅黑"/>
              </a:rPr>
              <a:t>RX: Recv SDU counter 205600</a:t>
            </a:r>
          </a:p>
          <a:p>
            <a:pPr algn="l"/>
            <a:r>
              <a:rPr sz="1400" b="0">
                <a:solidFill>
                  <a:srgbClr val="00D4FF"/>
                </a:solidFill>
                <a:latin typeface="微软雅黑"/>
                <a:ea typeface="微软雅黑"/>
              </a:rPr>
              <a:t>     shared_ts 1028163407 us</a:t>
            </a:r>
          </a:p>
          <a:p>
            <a:pPr algn="l"/>
            <a:r>
              <a:rPr sz="1400" b="0">
                <a:solidFill>
                  <a:srgbClr val="00D4FF"/>
                </a:solidFill>
                <a:latin typeface="微软雅黑"/>
                <a:ea typeface="微软雅黑"/>
              </a:rPr>
              <a:t>→ 完全一致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5029200"/>
            <a:ext cx="5669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脉冲边沿三通道对齐：µs 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技术优势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ADVANTAGES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微秒级精度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4754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controller-timed 硬件呈现（GRTC/DPPI/GPIOTE）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时钟伺服 + 漂移外推，消除陈旧误差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实测时间戳一致误差 0µs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55448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55448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长期稳定可靠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212848"/>
            <a:ext cx="4754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在线估计晶振漂移（ppm），持续跟踪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失同步 holdover 按最后速率滑行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32 位时间戳回绕正确处理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轻量易扩展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590288"/>
            <a:ext cx="4754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一对多广播，无连接、无回传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接收端数量可扩展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O(1) 伺服、无动态内存、200Hz 开销可忽略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931920"/>
            <a:ext cx="5303520" cy="2240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931920"/>
            <a:ext cx="5303520" cy="5029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硬件级确定性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4590288"/>
            <a:ext cx="47548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GPIO 呈现免软件线程调度抖动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SET/CLR 绝对电平、幂等自愈</a:t>
            </a:r>
          </a:p>
          <a:p>
            <a:pPr algn="l"/>
            <a:r>
              <a:rPr sz="1250" b="0">
                <a:solidFill>
                  <a:srgbClr val="1A2B3C"/>
                </a:solidFill>
                <a:latin typeface="微软雅黑"/>
                <a:ea typeface="微软雅黑"/>
              </a:rPr>
              <a:t>• 中位数估计，对丢包/重传鲁棒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应用场景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SCENARIOS · 所有需要时钟 / 信号同步的领域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hole_body_coordinated_motion__2026-09-15T04-52-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93391"/>
            <a:ext cx="1508760" cy="1508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3172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机器人协同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机器人大脑与四肢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关节时钟同步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ndustrial_multi_axis_motion_c_2026-09-15T05-00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993391"/>
            <a:ext cx="1508760" cy="1508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工业控制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多轴运动控制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分布式 PLC 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ireless_sensor_network_of_dis_2026-09-15T05-00-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993391"/>
            <a:ext cx="1508760" cy="1508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92124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无线传感网络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分布式 IoT 节点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同步采集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icrophone_array_beamforming_w_2026-09-15T05-00-0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4590288"/>
            <a:ext cx="1508760" cy="1508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3172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声学阵列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麦克风阵列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波束成形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Vibration_monitoring_of_rotati_2026-09-15T05-00-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98848" y="4590288"/>
            <a:ext cx="1508760" cy="1508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2648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振动监测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旋转机械多通道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振动同步采集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Smart_grid_electrical_substati_2026-09-15T05-00-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93608" y="4590288"/>
            <a:ext cx="1508760" cy="1508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92124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电力系统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智能电网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PMU 相量测量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0A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914400"/>
            <a:ext cx="2011680" cy="109728"/>
          </a:xfrm>
          <a:prstGeom prst="round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微软雅黑"/>
                <a:ea typeface="微软雅黑"/>
              </a:rPr>
              <a:t>应用场景（续）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B7B"/>
                </a:solidFill>
                <a:latin typeface="微软雅黑"/>
                <a:ea typeface="微软雅黑"/>
              </a:rPr>
              <a:t>SCENARIOS · 更多同步应用领域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lecom_base_station_tower_wit_2026-09-15T05-00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993391"/>
            <a:ext cx="1508760" cy="1508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3172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通信基站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5G TDD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时间同步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nancial_trading_system_with__2026-09-15T05-00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8848" y="1993391"/>
            <a:ext cx="1508760" cy="1508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金融交易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低延迟行情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时间戳同步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554480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554480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Autonomous_vehicle_sensor_fusi_2026-09-15T05-00-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993391"/>
            <a:ext cx="1508760" cy="1508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921240" y="1847088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自动驾驶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2286000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多传感器融合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LiDAR / 相机 / IMU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ulti_camera_and_microphone_st_2026-09-15T05-00-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4590288"/>
            <a:ext cx="1508760" cy="1508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3172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音视频同步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多相机多麦克风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音画同步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Telecom_base_station_tower_wit_2026-09-15T05-00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4590288"/>
            <a:ext cx="1508760" cy="1508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12648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科学测量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射电望远镜阵列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分布式测量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2440" y="4151376"/>
            <a:ext cx="3657600" cy="2395728"/>
          </a:xfrm>
          <a:prstGeom prst="roundRect">
            <a:avLst/>
          </a:prstGeom>
          <a:solidFill>
            <a:srgbClr val="F5F9FF"/>
          </a:solidFill>
          <a:ln w="15240">
            <a:solidFill>
              <a:srgbClr val="2E8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92440" y="4151376"/>
            <a:ext cx="128016" cy="2395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edical_monitoring_devices_syn_2026-09-15T05-00-0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608" y="4590288"/>
            <a:ext cx="1508760" cy="1508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921240" y="4443984"/>
            <a:ext cx="1737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2540"/>
                </a:solidFill>
                <a:latin typeface="微软雅黑"/>
                <a:ea typeface="微软雅黑"/>
              </a:rPr>
              <a:t>医疗设备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882896"/>
            <a:ext cx="1737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多设备</a:t>
            </a:r>
          </a:p>
          <a:p>
            <a:pPr algn="l"/>
            <a:r>
              <a:rPr sz="1050" b="0">
                <a:solidFill>
                  <a:srgbClr val="5A6B7B"/>
                </a:solidFill>
                <a:latin typeface="微软雅黑"/>
                <a:ea typeface="微软雅黑"/>
              </a:rPr>
              <a:t>同步监测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54496" y="1068907"/>
            <a:ext cx="163663" cy="163663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247114" y="5908302"/>
            <a:ext cx="95104" cy="95104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15468" y="2654574"/>
            <a:ext cx="121655" cy="121655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994548" y="3308173"/>
            <a:ext cx="166096" cy="166096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700891" y="2630696"/>
            <a:ext cx="175825" cy="175825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46945" y="3205645"/>
            <a:ext cx="183286" cy="183286"/>
          </a:xfrm>
          <a:prstGeom prst="ellipse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486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54864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0D4FF"/>
                </a:solidFill>
                <a:latin typeface="微软雅黑"/>
                <a:ea typeface="微软雅黑"/>
              </a:rPr>
              <a:t>基于 BLE BIS + 控制器时间戳 + 时钟伺服</a:t>
            </a:r>
          </a:p>
          <a:p>
            <a:pPr algn="l"/>
            <a:r>
              <a:rPr sz="1800" b="0">
                <a:solidFill>
                  <a:srgbClr val="00D4FF"/>
                </a:solidFill>
                <a:latin typeface="微软雅黑"/>
                <a:ea typeface="微软雅黑"/>
              </a:rPr>
              <a:t/>
            </a:r>
          </a:p>
          <a:p>
            <a:pPr algn="l"/>
            <a:r>
              <a:rPr sz="1800" b="0">
                <a:solidFill>
                  <a:srgbClr val="00D4FF"/>
                </a:solidFill>
                <a:latin typeface="微软雅黑"/>
                <a:ea typeface="微软雅黑"/>
              </a:rPr>
              <a:t>实现微秒级多节点时间同步</a:t>
            </a:r>
          </a:p>
          <a:p>
            <a:pPr algn="l"/>
            <a:r>
              <a:rPr sz="1800" b="0">
                <a:solidFill>
                  <a:srgbClr val="00D4FF"/>
                </a:solidFill>
                <a:latin typeface="微软雅黑"/>
                <a:ea typeface="微软雅黑"/>
              </a:rPr>
              <a:t/>
            </a:r>
          </a:p>
          <a:p>
            <a:pPr algn="l"/>
            <a:r>
              <a:rPr sz="1800" b="0">
                <a:solidFill>
                  <a:srgbClr val="00D4FF"/>
                </a:solidFill>
                <a:latin typeface="微软雅黑"/>
                <a:ea typeface="微软雅黑"/>
              </a:rPr>
              <a:t>实测时间戳一致（0µs）· 边沿 µs 级对齐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5486400"/>
            <a:ext cx="2377440" cy="54864"/>
          </a:xfrm>
          <a:prstGeom prst="rect">
            <a:avLst/>
          </a:prstGeom>
          <a:solidFill>
            <a:srgbClr val="00D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71500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感谢观看 · 欢迎交流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005840"/>
            <a:ext cx="5577840" cy="3794760"/>
          </a:xfrm>
          <a:prstGeom prst="roundRect">
            <a:avLst/>
          </a:prstGeom>
          <a:noFill/>
          <a:ln w="15240">
            <a:solidFill>
              <a:srgbClr val="00D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rain_to_joint_clock_synchroni_2026-09-15T04-52-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394960" cy="3596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