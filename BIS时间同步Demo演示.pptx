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9" r:id="rId10"/>
    <p:sldId id="264" r:id="rId11"/>
    <p:sldId id="265" r:id="rId12"/>
    <p:sldId id="266" r:id="rId13"/>
    <p:sldId id="267" r:id="rId14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55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55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7" Type="http://schemas.openxmlformats.org/officeDocument/2006/relationships/tableStyles" Target="tableStyles.xml"/><Relationship Id="rId16" Type="http://schemas.openxmlformats.org/officeDocument/2006/relationships/viewProps" Target="viewProps.xml"/><Relationship Id="rId15" Type="http://schemas.openxmlformats.org/officeDocument/2006/relationships/presProps" Target="presProps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1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155467" y="720181"/>
            <a:ext cx="182860" cy="182860"/>
          </a:xfrm>
          <a:prstGeom prst="ellipse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959518" y="4107308"/>
            <a:ext cx="150810" cy="150810"/>
          </a:xfrm>
          <a:prstGeom prst="ellipse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240471" y="2238124"/>
            <a:ext cx="68876" cy="68876"/>
          </a:xfrm>
          <a:prstGeom prst="ellipse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523728" y="5286063"/>
            <a:ext cx="180730" cy="180730"/>
          </a:xfrm>
          <a:prstGeom prst="ellipse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528205" y="5866940"/>
            <a:ext cx="115619" cy="115619"/>
          </a:xfrm>
          <a:prstGeom prst="ellipse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306613" y="4351104"/>
            <a:ext cx="64483" cy="64483"/>
          </a:xfrm>
          <a:prstGeom prst="ellipse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034518" y="2872662"/>
            <a:ext cx="80857" cy="80857"/>
          </a:xfrm>
          <a:prstGeom prst="ellipse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15128" y="1363944"/>
            <a:ext cx="165594" cy="165594"/>
          </a:xfrm>
          <a:prstGeom prst="ellipse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107132" y="5712918"/>
            <a:ext cx="164231" cy="164231"/>
          </a:xfrm>
          <a:prstGeom prst="ellipse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410853" y="2808274"/>
            <a:ext cx="114723" cy="114723"/>
          </a:xfrm>
          <a:prstGeom prst="ellipse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192024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微软雅黑"/>
                <a:ea typeface="微软雅黑"/>
              </a:rPr>
              <a:t>nRF54L15 蓝牙 BIS 时间同步</a:t>
            </a:r>
            <a:endParaRPr sz="4400" b="1">
              <a:solidFill>
                <a:srgbClr val="FFFFFF"/>
              </a:solidFill>
              <a:latin typeface="微软雅黑"/>
              <a:ea typeface="微软雅黑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822960" y="297180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>
                <a:solidFill>
                  <a:srgbClr val="00D4FF"/>
                </a:solidFill>
                <a:latin typeface="微软雅黑"/>
                <a:ea typeface="微软雅黑"/>
              </a:rPr>
              <a:t>微秒级多节点时间同步 · 技术方案与演示</a:t>
            </a:r>
            <a:endParaRPr sz="2400" b="0">
              <a:solidFill>
                <a:srgbClr val="00D4FF"/>
              </a:solidFill>
              <a:latin typeface="微软雅黑"/>
              <a:ea typeface="微软雅黑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868680" y="3794760"/>
            <a:ext cx="2377440" cy="54864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68680" y="4069080"/>
            <a:ext cx="2103120" cy="548640"/>
          </a:xfrm>
          <a:prstGeom prst="roundRect">
            <a:avLst/>
          </a:prstGeom>
          <a:solidFill>
            <a:srgbClr val="0E3052"/>
          </a:solidFill>
          <a:ln w="15240">
            <a:solidFill>
              <a:srgbClr val="00D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/>
          <a:lstStyle/>
          <a:p>
            <a:pPr algn="ctr"/>
            <a:r>
              <a:rPr sz="1500" b="1">
                <a:solidFill>
                  <a:srgbClr val="00D4FF"/>
                </a:solidFill>
                <a:latin typeface="微软雅黑"/>
                <a:ea typeface="微软雅黑"/>
              </a:rPr>
              <a:t>BLE 5.2 ISO</a:t>
            </a:r>
            <a:endParaRPr sz="1500" b="1">
              <a:solidFill>
                <a:srgbClr val="00D4FF"/>
              </a:solidFill>
              <a:latin typeface="微软雅黑"/>
              <a:ea typeface="微软雅黑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3200400" y="4069080"/>
            <a:ext cx="2103120" cy="548640"/>
          </a:xfrm>
          <a:prstGeom prst="roundRect">
            <a:avLst/>
          </a:prstGeom>
          <a:solidFill>
            <a:srgbClr val="0E3052"/>
          </a:solidFill>
          <a:ln w="15240">
            <a:solidFill>
              <a:srgbClr val="00D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/>
          <a:lstStyle/>
          <a:p>
            <a:pPr algn="ctr"/>
            <a:r>
              <a:rPr sz="1500" b="1">
                <a:solidFill>
                  <a:srgbClr val="00D4FF"/>
                </a:solidFill>
                <a:latin typeface="微软雅黑"/>
                <a:ea typeface="微软雅黑"/>
              </a:rPr>
              <a:t>1 发 2 收</a:t>
            </a:r>
            <a:endParaRPr sz="1500" b="1">
              <a:solidFill>
                <a:srgbClr val="00D4FF"/>
              </a:solidFill>
              <a:latin typeface="微软雅黑"/>
              <a:ea typeface="微软雅黑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5532120" y="4069080"/>
            <a:ext cx="2103120" cy="548640"/>
          </a:xfrm>
          <a:prstGeom prst="roundRect">
            <a:avLst/>
          </a:prstGeom>
          <a:solidFill>
            <a:srgbClr val="0E3052"/>
          </a:solidFill>
          <a:ln w="15240">
            <a:solidFill>
              <a:srgbClr val="00D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/>
          <a:lstStyle/>
          <a:p>
            <a:pPr algn="ctr"/>
            <a:r>
              <a:rPr lang="en-US" sz="1500" b="1">
                <a:solidFill>
                  <a:srgbClr val="00D4FF"/>
                </a:solidFill>
                <a:latin typeface="微软雅黑"/>
                <a:ea typeface="微软雅黑"/>
              </a:rPr>
              <a:t>&lt;</a:t>
            </a:r>
            <a:r>
              <a:rPr sz="1500" b="1">
                <a:solidFill>
                  <a:srgbClr val="00D4FF"/>
                </a:solidFill>
                <a:latin typeface="微软雅黑"/>
                <a:ea typeface="微软雅黑"/>
              </a:rPr>
              <a:t>1µs 精度</a:t>
            </a:r>
            <a:endParaRPr sz="1500" b="1">
              <a:solidFill>
                <a:srgbClr val="00D4FF"/>
              </a:solidFill>
              <a:latin typeface="微软雅黑"/>
              <a:ea typeface="微软雅黑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7863840" y="4069080"/>
            <a:ext cx="2103120" cy="548640"/>
          </a:xfrm>
          <a:prstGeom prst="roundRect">
            <a:avLst/>
          </a:prstGeom>
          <a:solidFill>
            <a:srgbClr val="0E3052"/>
          </a:solidFill>
          <a:ln w="15240">
            <a:solidFill>
              <a:srgbClr val="00D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/>
          <a:lstStyle/>
          <a:p>
            <a:pPr algn="ctr"/>
            <a:r>
              <a:rPr sz="1500" b="1">
                <a:solidFill>
                  <a:srgbClr val="00D4FF"/>
                </a:solidFill>
                <a:latin typeface="微软雅黑"/>
                <a:ea typeface="微软雅黑"/>
              </a:rPr>
              <a:t>200Hz 更新</a:t>
            </a:r>
            <a:endParaRPr sz="1500" b="1">
              <a:solidFill>
                <a:srgbClr val="00D4FF"/>
              </a:solidFill>
              <a:latin typeface="微软雅黑"/>
              <a:ea typeface="微软雅黑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822960" y="60350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6B7B"/>
                </a:solidFill>
                <a:latin typeface="微软雅黑"/>
                <a:ea typeface="微软雅黑"/>
              </a:rPr>
              <a:t>Nordic nRF Connect SDK v3.4.0 · nRF54L15</a:t>
            </a:r>
            <a:endParaRPr sz="1300" b="0">
              <a:solidFill>
                <a:srgbClr val="5A6B7B"/>
              </a:solidFill>
              <a:latin typeface="微软雅黑"/>
              <a:ea typeface="微软雅黑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AF3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914400"/>
            <a:ext cx="2011680" cy="109728"/>
          </a:xfrm>
          <a:prstGeom prst="round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  <a:ea typeface="微软雅黑"/>
              </a:rPr>
              <a:t>目录</a:t>
            </a:r>
            <a:endParaRPr sz="2800" b="1">
              <a:solidFill>
                <a:srgbClr val="FFFFFF"/>
              </a:solidFill>
              <a:latin typeface="微软雅黑"/>
              <a:ea typeface="微软雅黑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B7B"/>
                </a:solidFill>
                <a:latin typeface="微软雅黑"/>
                <a:ea typeface="微软雅黑"/>
              </a:rPr>
              <a:t>CONTENTS</a:t>
            </a:r>
            <a:endParaRPr sz="1400" b="0">
              <a:solidFill>
                <a:srgbClr val="5A6B7B"/>
              </a:solidFill>
              <a:latin typeface="微软雅黑"/>
              <a:ea typeface="微软雅黑"/>
            </a:endParaRPr>
          </a:p>
        </p:txBody>
      </p:sp>
      <p:sp>
        <p:nvSpPr>
          <p:cNvPr id="6" name="Oval 5"/>
          <p:cNvSpPr/>
          <p:nvPr/>
        </p:nvSpPr>
        <p:spPr>
          <a:xfrm>
            <a:off x="731520" y="1554480"/>
            <a:ext cx="822960" cy="82296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</a:rPr>
              <a:t>01</a:t>
            </a:r>
            <a:endParaRPr sz="2000" b="1">
              <a:solidFill>
                <a:srgbClr val="FFFFFF"/>
              </a:solidFill>
              <a:latin typeface="微软雅黑"/>
              <a:ea typeface="微软雅黑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828800" y="1554480"/>
            <a:ext cx="9601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1A2B3C"/>
                </a:solidFill>
                <a:latin typeface="微软雅黑"/>
                <a:ea typeface="微软雅黑"/>
              </a:rPr>
              <a:t>演示目标</a:t>
            </a:r>
            <a:endParaRPr sz="2000" b="1">
              <a:solidFill>
                <a:srgbClr val="1A2B3C"/>
              </a:solidFill>
              <a:latin typeface="微软雅黑"/>
              <a:ea typeface="微软雅黑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828800" y="1965960"/>
            <a:ext cx="9601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B7B"/>
                </a:solidFill>
                <a:latin typeface="微软雅黑"/>
                <a:ea typeface="微软雅黑"/>
              </a:rPr>
              <a:t>微秒级时间同步的目标与关键指标</a:t>
            </a:r>
            <a:endParaRPr sz="1400" b="0">
              <a:solidFill>
                <a:srgbClr val="5A6B7B"/>
              </a:solidFill>
              <a:latin typeface="微软雅黑"/>
              <a:ea typeface="微软雅黑"/>
            </a:endParaRPr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822960" cy="82296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</a:rPr>
              <a:t>02</a:t>
            </a:r>
            <a:endParaRPr sz="2000" b="1">
              <a:solidFill>
                <a:srgbClr val="FFFFFF"/>
              </a:solidFill>
              <a:latin typeface="微软雅黑"/>
              <a:ea typeface="微软雅黑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828800" y="2788920"/>
            <a:ext cx="9601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1A2B3C"/>
                </a:solidFill>
                <a:latin typeface="微软雅黑"/>
                <a:ea typeface="微软雅黑"/>
              </a:rPr>
              <a:t>技术原理</a:t>
            </a:r>
            <a:endParaRPr sz="2000" b="1">
              <a:solidFill>
                <a:srgbClr val="1A2B3C"/>
              </a:solidFill>
              <a:latin typeface="微软雅黑"/>
              <a:ea typeface="微软雅黑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828800" y="3200400"/>
            <a:ext cx="9601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B7B"/>
                </a:solidFill>
                <a:latin typeface="微软雅黑"/>
                <a:ea typeface="微软雅黑"/>
              </a:rPr>
              <a:t>时间戳载体 + 时钟伺服 + 定时呈现（一页看懂）</a:t>
            </a:r>
            <a:endParaRPr sz="1400" b="0">
              <a:solidFill>
                <a:srgbClr val="5A6B7B"/>
              </a:solidFill>
              <a:latin typeface="微软雅黑"/>
              <a:ea typeface="微软雅黑"/>
            </a:endParaRPr>
          </a:p>
        </p:txBody>
      </p:sp>
      <p:sp>
        <p:nvSpPr>
          <p:cNvPr id="12" name="Oval 11"/>
          <p:cNvSpPr/>
          <p:nvPr/>
        </p:nvSpPr>
        <p:spPr>
          <a:xfrm>
            <a:off x="731520" y="4023360"/>
            <a:ext cx="822960" cy="82296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</a:rPr>
              <a:t>03</a:t>
            </a:r>
            <a:endParaRPr sz="2000" b="1">
              <a:solidFill>
                <a:srgbClr val="FFFFFF"/>
              </a:solidFill>
              <a:latin typeface="微软雅黑"/>
              <a:ea typeface="微软雅黑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828800" y="4023360"/>
            <a:ext cx="9601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1A2B3C"/>
                </a:solidFill>
                <a:latin typeface="微软雅黑"/>
                <a:ea typeface="微软雅黑"/>
              </a:rPr>
              <a:t>系统架构与演示环境</a:t>
            </a:r>
            <a:endParaRPr sz="2000" b="1">
              <a:solidFill>
                <a:srgbClr val="1A2B3C"/>
              </a:solidFill>
              <a:latin typeface="微软雅黑"/>
              <a:ea typeface="微软雅黑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828800" y="4434840"/>
            <a:ext cx="9601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B7B"/>
                </a:solidFill>
                <a:latin typeface="微软雅黑"/>
                <a:ea typeface="微软雅黑"/>
              </a:rPr>
              <a:t>1 发 2 收架构 · 软硬件与工具</a:t>
            </a:r>
            <a:endParaRPr sz="1400" b="0">
              <a:solidFill>
                <a:srgbClr val="5A6B7B"/>
              </a:solidFill>
              <a:latin typeface="微软雅黑"/>
              <a:ea typeface="微软雅黑"/>
            </a:endParaRPr>
          </a:p>
        </p:txBody>
      </p:sp>
      <p:sp>
        <p:nvSpPr>
          <p:cNvPr id="15" name="Oval 14"/>
          <p:cNvSpPr/>
          <p:nvPr/>
        </p:nvSpPr>
        <p:spPr>
          <a:xfrm>
            <a:off x="731520" y="5257800"/>
            <a:ext cx="822960" cy="82296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</a:rPr>
              <a:t>04</a:t>
            </a:r>
            <a:endParaRPr sz="2000" b="1">
              <a:solidFill>
                <a:srgbClr val="FFFFFF"/>
              </a:solidFill>
              <a:latin typeface="微软雅黑"/>
              <a:ea typeface="微软雅黑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828800" y="5257800"/>
            <a:ext cx="9601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1A2B3C"/>
                </a:solidFill>
                <a:latin typeface="微软雅黑"/>
                <a:ea typeface="微软雅黑"/>
              </a:rPr>
              <a:t>实测数据与优势</a:t>
            </a:r>
            <a:endParaRPr sz="2000" b="1">
              <a:solidFill>
                <a:srgbClr val="1A2B3C"/>
              </a:solidFill>
              <a:latin typeface="微软雅黑"/>
              <a:ea typeface="微软雅黑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828800" y="5669280"/>
            <a:ext cx="9601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B7B"/>
                </a:solidFill>
                <a:latin typeface="微软雅黑"/>
                <a:ea typeface="微软雅黑"/>
              </a:rPr>
              <a:t>0µs 误差 · 应用场景</a:t>
            </a:r>
            <a:endParaRPr sz="1400" b="0">
              <a:solidFill>
                <a:srgbClr val="5A6B7B"/>
              </a:solidFill>
              <a:latin typeface="微软雅黑"/>
              <a:ea typeface="微软雅黑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AF3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914400"/>
            <a:ext cx="2011680" cy="109728"/>
          </a:xfrm>
          <a:prstGeom prst="round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  <a:ea typeface="微软雅黑"/>
              </a:rPr>
              <a:t>演示目标</a:t>
            </a:r>
            <a:endParaRPr sz="2800" b="1">
              <a:solidFill>
                <a:srgbClr val="FFFFFF"/>
              </a:solidFill>
              <a:latin typeface="微软雅黑"/>
              <a:ea typeface="微软雅黑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B7B"/>
                </a:solidFill>
                <a:latin typeface="微软雅黑"/>
                <a:ea typeface="微软雅黑"/>
              </a:rPr>
              <a:t>OBJECTIVE</a:t>
            </a:r>
            <a:endParaRPr sz="1400" b="0">
              <a:solidFill>
                <a:srgbClr val="5A6B7B"/>
              </a:solidFill>
              <a:latin typeface="微软雅黑"/>
              <a:ea typeface="微软雅黑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3474720" cy="31089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E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737360"/>
            <a:ext cx="3474720" cy="164592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194560"/>
            <a:ext cx="29260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>
                <a:solidFill>
                  <a:srgbClr val="0A2540"/>
                </a:solidFill>
                <a:latin typeface="微软雅黑"/>
                <a:ea typeface="微软雅黑"/>
              </a:rPr>
              <a:t>多节点统一时间基准</a:t>
            </a:r>
            <a:endParaRPr sz="1900" b="1">
              <a:solidFill>
                <a:srgbClr val="0A2540"/>
              </a:solidFill>
              <a:latin typeface="微软雅黑"/>
              <a:ea typeface="微软雅黑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005840" y="3291840"/>
            <a:ext cx="29260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B7B"/>
                </a:solidFill>
                <a:latin typeface="微软雅黑"/>
                <a:ea typeface="微软雅黑"/>
              </a:rPr>
              <a:t>1 个发送端 + 2 个接收端，长期共享同一时间基准</a:t>
            </a:r>
            <a:endParaRPr sz="1400" b="0">
              <a:solidFill>
                <a:srgbClr val="5A6B7B"/>
              </a:solidFill>
              <a:latin typeface="微软雅黑"/>
              <a:ea typeface="微软雅黑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4526280" y="1737360"/>
            <a:ext cx="3474720" cy="31089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E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26280" y="1737360"/>
            <a:ext cx="3474720" cy="164592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00600" y="2194560"/>
            <a:ext cx="29260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>
                <a:solidFill>
                  <a:srgbClr val="0A2540"/>
                </a:solidFill>
                <a:latin typeface="微软雅黑"/>
                <a:ea typeface="微软雅黑"/>
              </a:rPr>
              <a:t>微秒级打戳一致</a:t>
            </a:r>
            <a:endParaRPr sz="1900" b="1">
              <a:solidFill>
                <a:srgbClr val="0A2540"/>
              </a:solidFill>
              <a:latin typeface="微软雅黑"/>
              <a:ea typeface="微软雅黑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4800600" y="3291840"/>
            <a:ext cx="2926080" cy="52197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B7B"/>
                </a:solidFill>
                <a:latin typeface="微软雅黑"/>
                <a:ea typeface="微软雅黑"/>
              </a:rPr>
              <a:t>三方对同一事件打出相同时间戳，精度约 </a:t>
            </a:r>
            <a:r>
              <a:rPr lang="en-US" sz="1400" b="0">
                <a:solidFill>
                  <a:srgbClr val="5A6B7B"/>
                </a:solidFill>
                <a:latin typeface="微软雅黑"/>
                <a:ea typeface="微软雅黑"/>
              </a:rPr>
              <a:t>&lt;</a:t>
            </a:r>
            <a:r>
              <a:rPr sz="1400" b="0">
                <a:solidFill>
                  <a:srgbClr val="5A6B7B"/>
                </a:solidFill>
                <a:latin typeface="微软雅黑"/>
                <a:ea typeface="微软雅黑"/>
              </a:rPr>
              <a:t>1µs</a:t>
            </a:r>
            <a:endParaRPr sz="1400" b="0">
              <a:solidFill>
                <a:srgbClr val="5A6B7B"/>
              </a:solidFill>
              <a:latin typeface="微软雅黑"/>
              <a:ea typeface="微软雅黑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8321040" y="1737360"/>
            <a:ext cx="3474720" cy="31089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E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321040" y="1737360"/>
            <a:ext cx="3474720" cy="164592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95360" y="2194560"/>
            <a:ext cx="29260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>
                <a:solidFill>
                  <a:srgbClr val="0A2540"/>
                </a:solidFill>
                <a:latin typeface="微软雅黑"/>
                <a:ea typeface="微软雅黑"/>
              </a:rPr>
              <a:t>硬件级确定性呈现</a:t>
            </a:r>
            <a:endParaRPr sz="1900" b="1">
              <a:solidFill>
                <a:srgbClr val="0A2540"/>
              </a:solidFill>
              <a:latin typeface="微软雅黑"/>
              <a:ea typeface="微软雅黑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595360" y="3291840"/>
            <a:ext cx="29260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B7B"/>
                </a:solidFill>
                <a:latin typeface="微软雅黑"/>
                <a:ea typeface="微软雅黑"/>
              </a:rPr>
              <a:t>P1.10 输出 1µs 窄脉冲，边沿对齐可被逻辑分析仪直观观测</a:t>
            </a:r>
            <a:endParaRPr sz="1400" b="0">
              <a:solidFill>
                <a:srgbClr val="5A6B7B"/>
              </a:solidFill>
              <a:latin typeface="微软雅黑"/>
              <a:ea typeface="微软雅黑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AF3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914400"/>
            <a:ext cx="2011680" cy="109728"/>
          </a:xfrm>
          <a:prstGeom prst="round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  <a:ea typeface="微软雅黑"/>
              </a:rPr>
              <a:t>什么是 BLE BIS</a:t>
            </a:r>
            <a:endParaRPr sz="2800" b="1">
              <a:solidFill>
                <a:srgbClr val="FFFFFF"/>
              </a:solidFill>
              <a:latin typeface="微软雅黑"/>
              <a:ea typeface="微软雅黑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B7B"/>
                </a:solidFill>
                <a:latin typeface="微软雅黑"/>
                <a:ea typeface="微软雅黑"/>
              </a:rPr>
              <a:t>BROADCAST ISOCHRONOUS STREAM · 规范解读</a:t>
            </a:r>
            <a:endParaRPr sz="1400" b="0">
              <a:solidFill>
                <a:srgbClr val="5A6B7B"/>
              </a:solidFill>
              <a:latin typeface="微软雅黑"/>
              <a:ea typeface="微软雅黑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40080" y="1463040"/>
            <a:ext cx="5394960" cy="48920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63040"/>
            <a:ext cx="5394960" cy="5486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463040"/>
            <a:ext cx="5394960" cy="5486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定义与规范依据</a:t>
            </a:r>
            <a:endParaRPr sz="1400" b="1">
              <a:solidFill>
                <a:srgbClr val="FFFFFF"/>
              </a:solidFill>
              <a:latin typeface="微软雅黑"/>
              <a:ea typeface="微软雅黑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868680" y="2148840"/>
            <a:ext cx="493776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1A2B3C"/>
                </a:solidFill>
                <a:latin typeface="微软雅黑"/>
                <a:ea typeface="微软雅黑"/>
              </a:rPr>
              <a:t>• BIS = Broadcast Isochronous Stream</a:t>
            </a:r>
            <a:endParaRPr sz="1250" b="0">
              <a:solidFill>
                <a:srgbClr val="1A2B3C"/>
              </a:solidFill>
              <a:latin typeface="微软雅黑"/>
              <a:ea typeface="微软雅黑"/>
            </a:endParaRPr>
          </a:p>
          <a:p>
            <a:pPr algn="l"/>
            <a:r>
              <a:rPr sz="1250" b="0">
                <a:solidFill>
                  <a:srgbClr val="1A2B3C"/>
                </a:solidFill>
                <a:latin typeface="微软雅黑"/>
                <a:ea typeface="微软雅黑"/>
              </a:rPr>
              <a:t>  广播等时流，BLE 5.2 引入的</a:t>
            </a:r>
            <a:endParaRPr sz="1250" b="0">
              <a:solidFill>
                <a:srgbClr val="1A2B3C"/>
              </a:solidFill>
              <a:latin typeface="微软雅黑"/>
              <a:ea typeface="微软雅黑"/>
            </a:endParaRPr>
          </a:p>
          <a:p>
            <a:pPr algn="l"/>
            <a:r>
              <a:rPr sz="1250" b="0">
                <a:solidFill>
                  <a:srgbClr val="1A2B3C"/>
                </a:solidFill>
                <a:latin typeface="微软雅黑"/>
                <a:ea typeface="微软雅黑"/>
              </a:rPr>
              <a:t>  LE Isochronous Channels（LE-ISO）特性</a:t>
            </a:r>
            <a:endParaRPr sz="1250" b="0">
              <a:solidFill>
                <a:srgbClr val="1A2B3C"/>
              </a:solidFill>
              <a:latin typeface="微软雅黑"/>
              <a:ea typeface="微软雅黑"/>
            </a:endParaRPr>
          </a:p>
          <a:p>
            <a:pPr algn="l"/>
          </a:p>
          <a:p>
            <a:pPr algn="l"/>
            <a:r>
              <a:rPr sz="1250" b="0">
                <a:solidFill>
                  <a:srgbClr val="1A2B3C"/>
                </a:solidFill>
                <a:latin typeface="微软雅黑"/>
                <a:ea typeface="微软雅黑"/>
              </a:rPr>
              <a:t>• 多条 BIS 组成一个 BIG</a:t>
            </a:r>
            <a:endParaRPr sz="1250" b="0">
              <a:solidFill>
                <a:srgbClr val="1A2B3C"/>
              </a:solidFill>
              <a:latin typeface="微软雅黑"/>
              <a:ea typeface="微软雅黑"/>
            </a:endParaRPr>
          </a:p>
          <a:p>
            <a:pPr algn="l"/>
            <a:r>
              <a:rPr sz="1250" b="0">
                <a:solidFill>
                  <a:srgbClr val="1A2B3C"/>
                </a:solidFill>
                <a:latin typeface="微软雅黑"/>
                <a:ea typeface="微软雅黑"/>
              </a:rPr>
              <a:t>  （Broadcast Isochronous Group），</a:t>
            </a:r>
            <a:endParaRPr sz="1250" b="0">
              <a:solidFill>
                <a:srgbClr val="1A2B3C"/>
              </a:solidFill>
              <a:latin typeface="微软雅黑"/>
              <a:ea typeface="微软雅黑"/>
            </a:endParaRPr>
          </a:p>
          <a:p>
            <a:pPr algn="l"/>
            <a:r>
              <a:rPr sz="1250" b="0">
                <a:solidFill>
                  <a:srgbClr val="1A2B3C"/>
                </a:solidFill>
                <a:latin typeface="微软雅黑"/>
                <a:ea typeface="微软雅黑"/>
              </a:rPr>
              <a:t>  一对多广播，无需连接/回传</a:t>
            </a:r>
            <a:endParaRPr sz="1250" b="0">
              <a:solidFill>
                <a:srgbClr val="1A2B3C"/>
              </a:solidFill>
              <a:latin typeface="微软雅黑"/>
              <a:ea typeface="微软雅黑"/>
            </a:endParaRPr>
          </a:p>
          <a:p>
            <a:pPr algn="l"/>
          </a:p>
          <a:p>
            <a:pPr algn="l"/>
            <a:r>
              <a:rPr sz="1250" b="0">
                <a:solidFill>
                  <a:srgbClr val="1A2B3C"/>
                </a:solidFill>
                <a:latin typeface="微软雅黑"/>
                <a:ea typeface="微软雅黑"/>
              </a:rPr>
              <a:t>• 规范：Bluetooth Core Spec</a:t>
            </a:r>
            <a:endParaRPr sz="1250" b="0">
              <a:solidFill>
                <a:srgbClr val="1A2B3C"/>
              </a:solidFill>
              <a:latin typeface="微软雅黑"/>
              <a:ea typeface="微软雅黑"/>
            </a:endParaRPr>
          </a:p>
          <a:p>
            <a:pPr algn="l"/>
            <a:r>
              <a:rPr sz="1250" b="0">
                <a:solidFill>
                  <a:srgbClr val="1A2B3C"/>
                </a:solidFill>
                <a:latin typeface="微软雅黑"/>
                <a:ea typeface="微软雅黑"/>
              </a:rPr>
              <a:t>  Vol 6 Part G（Isochronous</a:t>
            </a:r>
            <a:endParaRPr sz="1250" b="0">
              <a:solidFill>
                <a:srgbClr val="1A2B3C"/>
              </a:solidFill>
              <a:latin typeface="微软雅黑"/>
              <a:ea typeface="微软雅黑"/>
            </a:endParaRPr>
          </a:p>
          <a:p>
            <a:pPr algn="l"/>
            <a:r>
              <a:rPr sz="1250" b="0">
                <a:solidFill>
                  <a:srgbClr val="1A2B3C"/>
                </a:solidFill>
                <a:latin typeface="微软雅黑"/>
                <a:ea typeface="微软雅黑"/>
              </a:rPr>
              <a:t>  Adaptation Layer，ISOAL）</a:t>
            </a:r>
            <a:endParaRPr sz="1250" b="0">
              <a:solidFill>
                <a:srgbClr val="1A2B3C"/>
              </a:solidFill>
              <a:latin typeface="微软雅黑"/>
              <a:ea typeface="微软雅黑"/>
            </a:endParaRPr>
          </a:p>
          <a:p>
            <a:pPr algn="l"/>
          </a:p>
          <a:p>
            <a:pPr algn="l"/>
            <a:r>
              <a:rPr sz="1250" b="0">
                <a:solidFill>
                  <a:srgbClr val="1A2B3C"/>
                </a:solidFill>
                <a:latin typeface="微软雅黑"/>
                <a:ea typeface="微软雅黑"/>
              </a:rPr>
              <a:t>• 核心机制：以固定 ISO_Interval 发送 SDU，</a:t>
            </a:r>
            <a:endParaRPr sz="1250" b="0">
              <a:solidFill>
                <a:srgbClr val="1A2B3C"/>
              </a:solidFill>
              <a:latin typeface="微软雅黑"/>
              <a:ea typeface="微软雅黑"/>
            </a:endParaRPr>
          </a:p>
          <a:p>
            <a:pPr algn="l"/>
            <a:r>
              <a:rPr sz="1250" b="0">
                <a:solidFill>
                  <a:srgbClr val="1A2B3C"/>
                </a:solidFill>
                <a:latin typeface="微软雅黑"/>
                <a:ea typeface="微软雅黑"/>
              </a:rPr>
              <a:t>  BIG 锚点作为同步参考时间基准</a:t>
            </a:r>
            <a:endParaRPr sz="1250" b="0">
              <a:solidFill>
                <a:srgbClr val="1A2B3C"/>
              </a:solidFill>
              <a:latin typeface="微软雅黑"/>
              <a:ea typeface="微软雅黑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6263640" y="1463040"/>
            <a:ext cx="5349240" cy="48920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E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63640" y="1463040"/>
            <a:ext cx="5349240" cy="548640"/>
          </a:xfrm>
          <a:prstGeom prst="rect">
            <a:avLst/>
          </a:prstGeom>
          <a:solidFill>
            <a:srgbClr val="2E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1463040"/>
            <a:ext cx="5349240" cy="548640"/>
          </a:xfrm>
          <a:prstGeom prst="rect">
            <a:avLst/>
          </a:prstGeom>
          <a:solidFill>
            <a:srgbClr val="2E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关键参数与同步流程</a:t>
            </a:r>
            <a:endParaRPr sz="1400" b="1">
              <a:solidFill>
                <a:srgbClr val="FFFFFF"/>
              </a:solidFill>
              <a:latin typeface="微软雅黑"/>
              <a:ea typeface="微软雅黑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492240" y="2103120"/>
            <a:ext cx="49377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A2B3C"/>
                </a:solidFill>
                <a:latin typeface="微软雅黑"/>
                <a:ea typeface="微软雅黑"/>
              </a:rPr>
              <a:t>关键参数：ISO_Interval（5ms~4s，</a:t>
            </a:r>
            <a:endParaRPr sz="1150" b="0">
              <a:solidFill>
                <a:srgbClr val="1A2B3C"/>
              </a:solidFill>
              <a:latin typeface="微软雅黑"/>
              <a:ea typeface="微软雅黑"/>
            </a:endParaRPr>
          </a:p>
          <a:p>
            <a:pPr algn="l"/>
            <a:r>
              <a:rPr sz="1150" b="0">
                <a:solidFill>
                  <a:srgbClr val="1A2B3C"/>
                </a:solidFill>
                <a:latin typeface="微软雅黑"/>
                <a:ea typeface="微软雅黑"/>
              </a:rPr>
              <a:t>步进 1.25ms）· SDU_Interval · RTN · NSE</a:t>
            </a:r>
            <a:endParaRPr sz="1150" b="0">
              <a:solidFill>
                <a:srgbClr val="1A2B3C"/>
              </a:solidFill>
              <a:latin typeface="微软雅黑"/>
              <a:ea typeface="微软雅黑"/>
            </a:endParaRPr>
          </a:p>
          <a:p>
            <a:pPr algn="l"/>
            <a:r>
              <a:rPr sz="1150" b="0">
                <a:solidFill>
                  <a:srgbClr val="1A2B3C"/>
                </a:solidFill>
                <a:latin typeface="微软雅黑"/>
                <a:ea typeface="微软雅黑"/>
              </a:rPr>
              <a:t>Max Transport Latency · 2M PHY</a:t>
            </a:r>
            <a:endParaRPr sz="1150" b="0">
              <a:solidFill>
                <a:srgbClr val="1A2B3C"/>
              </a:solidFill>
              <a:latin typeface="微软雅黑"/>
              <a:ea typeface="微软雅黑"/>
            </a:endParaRPr>
          </a:p>
        </p:txBody>
      </p:sp>
      <p:sp>
        <p:nvSpPr>
          <p:cNvPr id="14" name="Oval 13"/>
          <p:cNvSpPr/>
          <p:nvPr/>
        </p:nvSpPr>
        <p:spPr>
          <a:xfrm>
            <a:off x="6492240" y="3474720"/>
            <a:ext cx="457200" cy="457200"/>
          </a:xfrm>
          <a:prstGeom prst="ellipse">
            <a:avLst/>
          </a:prstGeom>
          <a:solidFill>
            <a:srgbClr val="2E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1</a:t>
            </a:r>
            <a:endParaRPr sz="1100" b="1">
              <a:solidFill>
                <a:srgbClr val="FFFFFF"/>
              </a:solidFill>
              <a:latin typeface="微软雅黑"/>
              <a:ea typeface="微软雅黑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7086600" y="3429000"/>
            <a:ext cx="4389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1A2B3C"/>
                </a:solidFill>
                <a:latin typeface="微软雅黑"/>
                <a:ea typeface="微软雅黑"/>
              </a:rPr>
              <a:t>Broadcaster 发 periodic adv</a:t>
            </a:r>
            <a:endParaRPr sz="1050" b="0">
              <a:solidFill>
                <a:srgbClr val="1A2B3C"/>
              </a:solidFill>
              <a:latin typeface="微软雅黑"/>
              <a:ea typeface="微软雅黑"/>
            </a:endParaRPr>
          </a:p>
          <a:p>
            <a:pPr algn="l"/>
            <a:r>
              <a:rPr sz="1050" b="0">
                <a:solidFill>
                  <a:srgbClr val="1A2B3C"/>
                </a:solidFill>
                <a:latin typeface="微软雅黑"/>
                <a:ea typeface="微软雅黑"/>
              </a:rPr>
              <a:t>（携带 BIGInfo 控制信息）</a:t>
            </a:r>
            <a:endParaRPr sz="1050" b="0">
              <a:solidFill>
                <a:srgbClr val="1A2B3C"/>
              </a:solidFill>
              <a:latin typeface="微软雅黑"/>
              <a:ea typeface="微软雅黑"/>
            </a:endParaRPr>
          </a:p>
        </p:txBody>
      </p:sp>
      <p:sp>
        <p:nvSpPr>
          <p:cNvPr id="16" name="Oval 15"/>
          <p:cNvSpPr/>
          <p:nvPr/>
        </p:nvSpPr>
        <p:spPr>
          <a:xfrm>
            <a:off x="6492240" y="4050791"/>
            <a:ext cx="457200" cy="457200"/>
          </a:xfrm>
          <a:prstGeom prst="ellipse">
            <a:avLst/>
          </a:prstGeom>
          <a:solidFill>
            <a:srgbClr val="2E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2</a:t>
            </a:r>
            <a:endParaRPr sz="1100" b="1">
              <a:solidFill>
                <a:srgbClr val="FFFFFF"/>
              </a:solidFill>
              <a:latin typeface="微软雅黑"/>
              <a:ea typeface="微软雅黑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7086600" y="4005072"/>
            <a:ext cx="4389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1A2B3C"/>
                </a:solidFill>
                <a:latin typeface="微软雅黑"/>
                <a:ea typeface="微软雅黑"/>
              </a:rPr>
              <a:t>Sync Receiver 扫描并</a:t>
            </a:r>
            <a:endParaRPr sz="1050" b="0">
              <a:solidFill>
                <a:srgbClr val="1A2B3C"/>
              </a:solidFill>
              <a:latin typeface="微软雅黑"/>
              <a:ea typeface="微软雅黑"/>
            </a:endParaRPr>
          </a:p>
          <a:p>
            <a:pPr algn="l"/>
            <a:r>
              <a:rPr sz="1050" b="0">
                <a:solidFill>
                  <a:srgbClr val="1A2B3C"/>
                </a:solidFill>
                <a:latin typeface="微软雅黑"/>
                <a:ea typeface="微软雅黑"/>
              </a:rPr>
              <a:t>同步 Periodic Advertising</a:t>
            </a:r>
            <a:endParaRPr sz="1050" b="0">
              <a:solidFill>
                <a:srgbClr val="1A2B3C"/>
              </a:solidFill>
              <a:latin typeface="微软雅黑"/>
              <a:ea typeface="微软雅黑"/>
            </a:endParaRPr>
          </a:p>
        </p:txBody>
      </p:sp>
      <p:sp>
        <p:nvSpPr>
          <p:cNvPr id="18" name="Oval 17"/>
          <p:cNvSpPr/>
          <p:nvPr/>
        </p:nvSpPr>
        <p:spPr>
          <a:xfrm>
            <a:off x="6492240" y="4626864"/>
            <a:ext cx="457200" cy="457200"/>
          </a:xfrm>
          <a:prstGeom prst="ellipse">
            <a:avLst/>
          </a:prstGeom>
          <a:solidFill>
            <a:srgbClr val="2E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3</a:t>
            </a:r>
            <a:endParaRPr sz="1100" b="1">
              <a:solidFill>
                <a:srgbClr val="FFFFFF"/>
              </a:solidFill>
              <a:latin typeface="微软雅黑"/>
              <a:ea typeface="微软雅黑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7086600" y="4581144"/>
            <a:ext cx="4389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1A2B3C"/>
                </a:solidFill>
                <a:latin typeface="微软雅黑"/>
                <a:ea typeface="微软雅黑"/>
              </a:rPr>
              <a:t>按 BIGInfo 建立 BIG 同步</a:t>
            </a:r>
            <a:endParaRPr sz="1050" b="0">
              <a:solidFill>
                <a:srgbClr val="1A2B3C"/>
              </a:solidFill>
              <a:latin typeface="微软雅黑"/>
              <a:ea typeface="微软雅黑"/>
            </a:endParaRPr>
          </a:p>
        </p:txBody>
      </p:sp>
      <p:sp>
        <p:nvSpPr>
          <p:cNvPr id="20" name="Oval 19"/>
          <p:cNvSpPr/>
          <p:nvPr/>
        </p:nvSpPr>
        <p:spPr>
          <a:xfrm>
            <a:off x="6492240" y="5202936"/>
            <a:ext cx="457200" cy="457200"/>
          </a:xfrm>
          <a:prstGeom prst="ellipse">
            <a:avLst/>
          </a:prstGeom>
          <a:solidFill>
            <a:srgbClr val="2E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4</a:t>
            </a:r>
            <a:endParaRPr sz="1100" b="1">
              <a:solidFill>
                <a:srgbClr val="FFFFFF"/>
              </a:solidFill>
              <a:latin typeface="微软雅黑"/>
              <a:ea typeface="微软雅黑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7086600" y="5157216"/>
            <a:ext cx="4389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1A2B3C"/>
                </a:solidFill>
                <a:latin typeface="微软雅黑"/>
                <a:ea typeface="微软雅黑"/>
              </a:rPr>
              <a:t>定时接收 SDU，BIG 锚点</a:t>
            </a:r>
            <a:endParaRPr sz="1050" b="0">
              <a:solidFill>
                <a:srgbClr val="1A2B3C"/>
              </a:solidFill>
              <a:latin typeface="微软雅黑"/>
              <a:ea typeface="微软雅黑"/>
            </a:endParaRPr>
          </a:p>
          <a:p>
            <a:pPr algn="l"/>
            <a:r>
              <a:rPr sz="1050" b="0">
                <a:solidFill>
                  <a:srgbClr val="1A2B3C"/>
                </a:solidFill>
                <a:latin typeface="微软雅黑"/>
                <a:ea typeface="微软雅黑"/>
              </a:rPr>
              <a:t>作为时间基准</a:t>
            </a:r>
            <a:endParaRPr sz="1050" b="0">
              <a:solidFill>
                <a:srgbClr val="1A2B3C"/>
              </a:solidFill>
              <a:latin typeface="微软雅黑"/>
              <a:ea typeface="微软雅黑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AF3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914400"/>
            <a:ext cx="2011680" cy="109728"/>
          </a:xfrm>
          <a:prstGeom prst="round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  <a:ea typeface="微软雅黑"/>
              </a:rPr>
              <a:t>技术原理</a:t>
            </a:r>
            <a:endParaRPr sz="2800" b="1">
              <a:solidFill>
                <a:srgbClr val="FFFFFF"/>
              </a:solidFill>
              <a:latin typeface="微软雅黑"/>
              <a:ea typeface="微软雅黑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B7B"/>
                </a:solidFill>
                <a:latin typeface="微软雅黑"/>
                <a:ea typeface="微软雅黑"/>
              </a:rPr>
              <a:t>PRINCIPLE · 一页看懂</a:t>
            </a:r>
            <a:endParaRPr sz="1400" b="0">
              <a:solidFill>
                <a:srgbClr val="5A6B7B"/>
              </a:solidFill>
              <a:latin typeface="微软雅黑"/>
              <a:ea typeface="微软雅黑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3291840" cy="105156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发送端 TX</a:t>
            </a:r>
            <a:endParaRPr sz="1300" b="1">
              <a:solidFill>
                <a:srgbClr val="FFFFFF"/>
              </a:solidFill>
              <a:latin typeface="微软雅黑"/>
              <a:ea typeface="微软雅黑"/>
            </a:endParaRPr>
          </a:p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SDU = [trigger][counter][tx_ts]</a:t>
            </a:r>
            <a:endParaRPr sz="1300" b="1">
              <a:solidFill>
                <a:srgbClr val="FFFFFF"/>
              </a:solidFill>
              <a:latin typeface="微软雅黑"/>
              <a:ea typeface="微软雅黑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8229600" y="1417320"/>
            <a:ext cx="3291840" cy="1051560"/>
          </a:xfrm>
          <a:prstGeom prst="roundRect">
            <a:avLst/>
          </a:prstGeom>
          <a:solidFill>
            <a:srgbClr val="2E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接收端 RX</a:t>
            </a:r>
            <a:endParaRPr sz="1300" b="1">
              <a:solidFill>
                <a:srgbClr val="FFFFFF"/>
              </a:solidFill>
              <a:latin typeface="微软雅黑"/>
              <a:ea typeface="微软雅黑"/>
            </a:endParaRPr>
          </a:p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解析 → 时钟伺服 → shared_ts</a:t>
            </a:r>
            <a:endParaRPr sz="1300" b="1">
              <a:solidFill>
                <a:srgbClr val="FFFFFF"/>
              </a:solidFill>
              <a:latin typeface="微软雅黑"/>
              <a:ea typeface="微软雅黑"/>
            </a:endParaRPr>
          </a:p>
        </p:txBody>
      </p:sp>
      <p:cxnSp>
        <p:nvCxnSpPr>
          <p:cNvPr id="8" name="Connector 7"/>
          <p:cNvCxnSpPr/>
          <p:nvPr/>
        </p:nvCxnSpPr>
        <p:spPr>
          <a:xfrm>
            <a:off x="4023360" y="1938528"/>
            <a:ext cx="4206240" cy="0"/>
          </a:xfrm>
          <a:prstGeom prst="line">
            <a:avLst/>
          </a:prstGeom>
          <a:ln w="38100">
            <a:solidFill>
              <a:srgbClr val="00D4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3931920" y="1188720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6B7B"/>
                </a:solidFill>
                <a:latin typeface="微软雅黑"/>
                <a:ea typeface="微软雅黑"/>
              </a:rPr>
              <a:t>BIS 广播（5ms 间隔）</a:t>
            </a:r>
            <a:endParaRPr sz="1200" b="0">
              <a:solidFill>
                <a:srgbClr val="5A6B7B"/>
              </a:solidFill>
              <a:latin typeface="微软雅黑"/>
              <a:ea typeface="微软雅黑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731520" y="2880360"/>
            <a:ext cx="3474720" cy="28803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2880360"/>
            <a:ext cx="3474720" cy="5029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2880360"/>
            <a:ext cx="3474720" cy="5029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① 时间戳载体</a:t>
            </a:r>
            <a:endParaRPr sz="1400" b="1">
              <a:solidFill>
                <a:srgbClr val="FFFFFF"/>
              </a:solidFill>
              <a:latin typeface="微软雅黑"/>
              <a:ea typeface="微软雅黑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960120" y="3520440"/>
            <a:ext cx="30175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A2B3C"/>
                </a:solidFill>
                <a:latin typeface="微软雅黑"/>
                <a:ea typeface="微软雅黑"/>
              </a:rPr>
              <a:t>发送端把 SDU 同步参考时间戳</a:t>
            </a:r>
            <a:endParaRPr sz="1150" b="0">
              <a:solidFill>
                <a:srgbClr val="1A2B3C"/>
              </a:solidFill>
              <a:latin typeface="微软雅黑"/>
              <a:ea typeface="微软雅黑"/>
            </a:endParaRPr>
          </a:p>
          <a:p>
            <a:pPr algn="l"/>
            <a:r>
              <a:rPr sz="1150" b="0">
                <a:solidFill>
                  <a:srgbClr val="1A2B3C"/>
                </a:solidFill>
                <a:latin typeface="微软雅黑"/>
                <a:ea typeface="微软雅黑"/>
              </a:rPr>
              <a:t>tx_ts 写入 payload；接收端拿到</a:t>
            </a:r>
            <a:endParaRPr sz="1150" b="0">
              <a:solidFill>
                <a:srgbClr val="1A2B3C"/>
              </a:solidFill>
              <a:latin typeface="微软雅黑"/>
              <a:ea typeface="微软雅黑"/>
            </a:endParaRPr>
          </a:p>
          <a:p>
            <a:pPr algn="l"/>
            <a:r>
              <a:rPr sz="1150" b="0">
                <a:solidFill>
                  <a:srgbClr val="1A2B3C"/>
                </a:solidFill>
                <a:latin typeface="微软雅黑"/>
                <a:ea typeface="微软雅黑"/>
              </a:rPr>
              <a:t>同一瞬间的本地读数 info-&gt;ts</a:t>
            </a:r>
            <a:endParaRPr sz="1150" b="0">
              <a:solidFill>
                <a:srgbClr val="1A2B3C"/>
              </a:solidFill>
              <a:latin typeface="微软雅黑"/>
              <a:ea typeface="微软雅黑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960120" y="5074920"/>
            <a:ext cx="3017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2E86FF"/>
                </a:solidFill>
                <a:latin typeface="微软雅黑"/>
                <a:ea typeface="微软雅黑"/>
              </a:rPr>
              <a:t>参考对 (tx_ts, info-&gt;ts)</a:t>
            </a:r>
            <a:endParaRPr sz="1200" b="1">
              <a:solidFill>
                <a:srgbClr val="2E86FF"/>
              </a:solidFill>
              <a:latin typeface="微软雅黑"/>
              <a:ea typeface="微软雅黑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4480559" y="2880360"/>
            <a:ext cx="3474720" cy="28803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80559" y="2880360"/>
            <a:ext cx="3474720" cy="5029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80559" y="2880360"/>
            <a:ext cx="3474720" cy="5029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② 时钟伺服</a:t>
            </a:r>
            <a:endParaRPr sz="1400" b="1">
              <a:solidFill>
                <a:srgbClr val="FFFFFF"/>
              </a:solidFill>
              <a:latin typeface="微软雅黑"/>
              <a:ea typeface="微软雅黑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4709159" y="3520440"/>
            <a:ext cx="30175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A2B3C"/>
                </a:solidFill>
                <a:latin typeface="微软雅黑"/>
                <a:ea typeface="微软雅黑"/>
              </a:rPr>
              <a:t>offset = 发送端时钟 − 接收端时钟</a:t>
            </a:r>
            <a:endParaRPr sz="1150" b="0">
              <a:solidFill>
                <a:srgbClr val="1A2B3C"/>
              </a:solidFill>
              <a:latin typeface="微软雅黑"/>
              <a:ea typeface="微软雅黑"/>
            </a:endParaRPr>
          </a:p>
          <a:p>
            <a:pPr algn="l"/>
            <a:r>
              <a:rPr sz="1150" b="0">
                <a:solidFill>
                  <a:srgbClr val="1A2B3C"/>
                </a:solidFill>
                <a:latin typeface="微软雅黑"/>
                <a:ea typeface="微软雅黑"/>
              </a:rPr>
              <a:t>中位数估计 + ppm 漂移估计</a:t>
            </a:r>
            <a:endParaRPr sz="1150" b="0">
              <a:solidFill>
                <a:srgbClr val="1A2B3C"/>
              </a:solidFill>
              <a:latin typeface="微软雅黑"/>
              <a:ea typeface="微软雅黑"/>
            </a:endParaRPr>
          </a:p>
          <a:p>
            <a:pPr algn="l"/>
            <a:r>
              <a:rPr sz="1150" b="0">
                <a:solidFill>
                  <a:srgbClr val="1A2B3C"/>
                </a:solidFill>
                <a:latin typeface="微软雅黑"/>
                <a:ea typeface="微软雅黑"/>
              </a:rPr>
              <a:t>外推到当前时刻</a:t>
            </a:r>
            <a:endParaRPr sz="1150" b="0">
              <a:solidFill>
                <a:srgbClr val="1A2B3C"/>
              </a:solidFill>
              <a:latin typeface="微软雅黑"/>
              <a:ea typeface="微软雅黑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4709159" y="5074920"/>
            <a:ext cx="3017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2E86FF"/>
                </a:solidFill>
                <a:latin typeface="微软雅黑"/>
                <a:ea typeface="微软雅黑"/>
              </a:rPr>
              <a:t>shared = local + offset + drift×age</a:t>
            </a:r>
            <a:endParaRPr sz="1200" b="1">
              <a:solidFill>
                <a:srgbClr val="2E86FF"/>
              </a:solidFill>
              <a:latin typeface="微软雅黑"/>
              <a:ea typeface="微软雅黑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8229600" y="2880360"/>
            <a:ext cx="3474720" cy="28803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29600" y="2880360"/>
            <a:ext cx="3474720" cy="5029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2880360"/>
            <a:ext cx="3474720" cy="5029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③ 定时呈现</a:t>
            </a:r>
            <a:endParaRPr sz="1400" b="1">
              <a:solidFill>
                <a:srgbClr val="FFFFFF"/>
              </a:solidFill>
              <a:latin typeface="微软雅黑"/>
              <a:ea typeface="微软雅黑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8458200" y="3520440"/>
            <a:ext cx="30175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A2B3C"/>
                </a:solidFill>
                <a:latin typeface="微软雅黑"/>
                <a:ea typeface="微软雅黑"/>
              </a:rPr>
              <a:t>GRTC → DPPI → GPIOTE 硬件链路</a:t>
            </a:r>
            <a:endParaRPr sz="1150" b="0">
              <a:solidFill>
                <a:srgbClr val="1A2B3C"/>
              </a:solidFill>
              <a:latin typeface="微软雅黑"/>
              <a:ea typeface="微软雅黑"/>
            </a:endParaRPr>
          </a:p>
          <a:p>
            <a:pPr algn="l"/>
            <a:r>
              <a:rPr sz="1150" b="0">
                <a:solidFill>
                  <a:srgbClr val="1A2B3C"/>
                </a:solidFill>
                <a:latin typeface="微软雅黑"/>
                <a:ea typeface="微软雅黑"/>
              </a:rPr>
              <a:t>在 presentation 时刻驱动 P1.10</a:t>
            </a:r>
            <a:endParaRPr sz="1150" b="0">
              <a:solidFill>
                <a:srgbClr val="1A2B3C"/>
              </a:solidFill>
              <a:latin typeface="微软雅黑"/>
              <a:ea typeface="微软雅黑"/>
            </a:endParaRPr>
          </a:p>
          <a:p>
            <a:pPr algn="l"/>
            <a:r>
              <a:rPr sz="1150" b="0">
                <a:solidFill>
                  <a:srgbClr val="1A2B3C"/>
                </a:solidFill>
                <a:latin typeface="微软雅黑"/>
                <a:ea typeface="微软雅黑"/>
              </a:rPr>
              <a:t>免软件线程抖动</a:t>
            </a:r>
            <a:endParaRPr sz="1150" b="0">
              <a:solidFill>
                <a:srgbClr val="1A2B3C"/>
              </a:solidFill>
              <a:latin typeface="微软雅黑"/>
              <a:ea typeface="微软雅黑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8458200" y="5074920"/>
            <a:ext cx="3017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2E86FF"/>
                </a:solidFill>
                <a:latin typeface="微软雅黑"/>
                <a:ea typeface="微软雅黑"/>
              </a:rPr>
              <a:t>GRTC → DPPI → GPIOTE</a:t>
            </a:r>
            <a:endParaRPr sz="1200" b="1">
              <a:solidFill>
                <a:srgbClr val="2E86FF"/>
              </a:solidFill>
              <a:latin typeface="微软雅黑"/>
              <a:ea typeface="微软雅黑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731520" y="598932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6B7B"/>
                </a:solidFill>
                <a:latin typeface="微软雅黑"/>
                <a:ea typeface="微软雅黑"/>
              </a:rPr>
              <a:t>关键：tx_ts 与 info-&gt;ts 是同一物理瞬间（BIG 锚点）在两个自由运行时钟下的读数 → 据此估计偏移与漂移</a:t>
            </a:r>
            <a:endParaRPr sz="1200" b="0">
              <a:solidFill>
                <a:srgbClr val="5A6B7B"/>
              </a:solidFill>
              <a:latin typeface="微软雅黑"/>
              <a:ea typeface="微软雅黑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AF3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914400"/>
            <a:ext cx="2011680" cy="109728"/>
          </a:xfrm>
          <a:prstGeom prst="round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  <a:ea typeface="微软雅黑"/>
              </a:rPr>
              <a:t>系统架构</a:t>
            </a:r>
            <a:endParaRPr sz="2800" b="1">
              <a:solidFill>
                <a:srgbClr val="FFFFFF"/>
              </a:solidFill>
              <a:latin typeface="微软雅黑"/>
              <a:ea typeface="微软雅黑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B7B"/>
                </a:solidFill>
                <a:latin typeface="微软雅黑"/>
                <a:ea typeface="微软雅黑"/>
              </a:rPr>
              <a:t>ARCHITECTURE · 1 发 2 收</a:t>
            </a:r>
            <a:endParaRPr sz="1400" b="0">
              <a:solidFill>
                <a:srgbClr val="5A6B7B"/>
              </a:solidFill>
              <a:latin typeface="微软雅黑"/>
              <a:ea typeface="微软雅黑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40080" y="1554480"/>
            <a:ext cx="2377440" cy="64008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发送端 TX</a:t>
            </a:r>
            <a:endParaRPr sz="1500" b="1">
              <a:solidFill>
                <a:srgbClr val="FFFFFF"/>
              </a:solidFill>
              <a:latin typeface="微软雅黑"/>
              <a:ea typeface="微软雅黑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640080" y="2377440"/>
            <a:ext cx="2377440" cy="6858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E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/>
          <a:lstStyle/>
          <a:p>
            <a:pPr algn="ctr"/>
            <a:r>
              <a:rPr sz="1300" b="1">
                <a:solidFill>
                  <a:srgbClr val="0A2540"/>
                </a:solidFill>
                <a:latin typeface="微软雅黑"/>
                <a:ea typeface="微软雅黑"/>
              </a:rPr>
              <a:t>触发事件生成</a:t>
            </a:r>
            <a:endParaRPr sz="1300" b="1">
              <a:solidFill>
                <a:srgbClr val="0A2540"/>
              </a:solidFill>
              <a:latin typeface="微软雅黑"/>
              <a:ea typeface="微软雅黑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640080" y="3246120"/>
            <a:ext cx="2377440" cy="6858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E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/>
          <a:lstStyle/>
          <a:p>
            <a:pPr algn="ctr"/>
            <a:r>
              <a:rPr sz="1300" b="1">
                <a:solidFill>
                  <a:srgbClr val="0A2540"/>
                </a:solidFill>
                <a:latin typeface="微软雅黑"/>
                <a:ea typeface="微软雅黑"/>
              </a:rPr>
              <a:t>组包(嵌入时间戳)</a:t>
            </a:r>
            <a:endParaRPr sz="1300" b="1">
              <a:solidFill>
                <a:srgbClr val="0A2540"/>
              </a:solidFill>
              <a:latin typeface="微软雅黑"/>
              <a:ea typeface="微软雅黑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640080" y="4114800"/>
            <a:ext cx="2377440" cy="6858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E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/>
          <a:lstStyle/>
          <a:p>
            <a:pPr algn="ctr"/>
            <a:r>
              <a:rPr sz="1300" b="1">
                <a:solidFill>
                  <a:srgbClr val="0A2540"/>
                </a:solidFill>
                <a:latin typeface="微软雅黑"/>
                <a:ea typeface="微软雅黑"/>
              </a:rPr>
              <a:t>BIS 广播</a:t>
            </a:r>
            <a:endParaRPr sz="1300" b="1">
              <a:solidFill>
                <a:srgbClr val="0A2540"/>
              </a:solidFill>
              <a:latin typeface="微软雅黑"/>
              <a:ea typeface="微软雅黑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640080" y="4983480"/>
            <a:ext cx="2377440" cy="6858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E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/>
          <a:lstStyle/>
          <a:p>
            <a:pPr algn="ctr"/>
            <a:r>
              <a:rPr sz="1300" b="1">
                <a:solidFill>
                  <a:srgbClr val="0A2540"/>
                </a:solidFill>
                <a:latin typeface="微软雅黑"/>
                <a:ea typeface="微软雅黑"/>
              </a:rPr>
              <a:t>本地定时呈现</a:t>
            </a:r>
            <a:endParaRPr sz="1300" b="1">
              <a:solidFill>
                <a:srgbClr val="0A2540"/>
              </a:solidFill>
              <a:latin typeface="微软雅黑"/>
              <a:ea typeface="微软雅黑"/>
            </a:endParaRPr>
          </a:p>
        </p:txBody>
      </p:sp>
      <p:cxnSp>
        <p:nvCxnSpPr>
          <p:cNvPr id="11" name="Connector 10"/>
          <p:cNvCxnSpPr/>
          <p:nvPr/>
        </p:nvCxnSpPr>
        <p:spPr>
          <a:xfrm>
            <a:off x="3108960" y="3931920"/>
            <a:ext cx="1737360" cy="0"/>
          </a:xfrm>
          <a:prstGeom prst="line">
            <a:avLst/>
          </a:prstGeom>
          <a:ln w="38100">
            <a:solidFill>
              <a:srgbClr val="00D4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3017520" y="4114800"/>
            <a:ext cx="2011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6B7B"/>
                </a:solidFill>
                <a:latin typeface="微软雅黑"/>
                <a:ea typeface="微软雅黑"/>
              </a:rPr>
              <a:t>BIS 广播</a:t>
            </a:r>
            <a:endParaRPr sz="1200" b="0">
              <a:solidFill>
                <a:srgbClr val="5A6B7B"/>
              </a:solidFill>
              <a:latin typeface="微软雅黑"/>
              <a:ea typeface="微软雅黑"/>
            </a:endParaRPr>
          </a:p>
          <a:p>
            <a:pPr algn="ctr"/>
            <a:r>
              <a:rPr sz="1200" b="0">
                <a:solidFill>
                  <a:srgbClr val="5A6B7B"/>
                </a:solidFill>
                <a:latin typeface="微软雅黑"/>
                <a:ea typeface="微软雅黑"/>
              </a:rPr>
              <a:t>(5ms 间隔)</a:t>
            </a:r>
            <a:endParaRPr sz="1200" b="0">
              <a:solidFill>
                <a:srgbClr val="5A6B7B"/>
              </a:solidFill>
              <a:latin typeface="微软雅黑"/>
              <a:ea typeface="微软雅黑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5120640" y="1554480"/>
            <a:ext cx="2926080" cy="640080"/>
          </a:xfrm>
          <a:prstGeom prst="roundRect">
            <a:avLst/>
          </a:prstGeom>
          <a:solidFill>
            <a:srgbClr val="2E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接收端 RX</a:t>
            </a:r>
            <a:r>
              <a:rPr lang="en-US" sz="1500" b="1">
                <a:solidFill>
                  <a:srgbClr val="FFFFFF"/>
                </a:solidFill>
                <a:latin typeface="微软雅黑"/>
                <a:ea typeface="微软雅黑"/>
              </a:rPr>
              <a:t>1</a:t>
            </a:r>
            <a:endParaRPr lang="en-US" sz="1500" b="1">
              <a:solidFill>
                <a:srgbClr val="FFFFFF"/>
              </a:solidFill>
              <a:latin typeface="微软雅黑"/>
              <a:ea typeface="微软雅黑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5120640" y="2377440"/>
            <a:ext cx="2926080" cy="6858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E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/>
          <a:lstStyle/>
          <a:p>
            <a:pPr algn="ctr"/>
            <a:r>
              <a:rPr sz="1300" b="1">
                <a:solidFill>
                  <a:srgbClr val="0A2540"/>
                </a:solidFill>
                <a:latin typeface="微软雅黑"/>
                <a:ea typeface="微软雅黑"/>
              </a:rPr>
              <a:t>解析 SDU</a:t>
            </a:r>
            <a:endParaRPr sz="1300" b="1">
              <a:solidFill>
                <a:srgbClr val="0A2540"/>
              </a:solidFill>
              <a:latin typeface="微软雅黑"/>
              <a:ea typeface="微软雅黑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5120640" y="3246120"/>
            <a:ext cx="2926080" cy="6858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E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/>
          <a:lstStyle/>
          <a:p>
            <a:pPr algn="ctr"/>
            <a:r>
              <a:rPr sz="1300" b="1">
                <a:solidFill>
                  <a:srgbClr val="0A2540"/>
                </a:solidFill>
                <a:latin typeface="微软雅黑"/>
                <a:ea typeface="微软雅黑"/>
              </a:rPr>
              <a:t>时钟伺服(offset/drift)</a:t>
            </a:r>
            <a:endParaRPr sz="1300" b="1">
              <a:solidFill>
                <a:srgbClr val="0A2540"/>
              </a:solidFill>
              <a:latin typeface="微软雅黑"/>
              <a:ea typeface="微软雅黑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5120640" y="4114800"/>
            <a:ext cx="2926080" cy="6858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E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/>
          <a:lstStyle/>
          <a:p>
            <a:pPr algn="ctr"/>
            <a:r>
              <a:rPr sz="1300" b="1">
                <a:solidFill>
                  <a:srgbClr val="0A2540"/>
                </a:solidFill>
                <a:latin typeface="微软雅黑"/>
                <a:ea typeface="微软雅黑"/>
              </a:rPr>
              <a:t>shared_ts 打戳</a:t>
            </a:r>
            <a:endParaRPr sz="1300" b="1">
              <a:solidFill>
                <a:srgbClr val="0A2540"/>
              </a:solidFill>
              <a:latin typeface="微软雅黑"/>
              <a:ea typeface="微软雅黑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5120640" y="4983480"/>
            <a:ext cx="2926080" cy="6858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E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/>
          <a:lstStyle/>
          <a:p>
            <a:pPr algn="ctr"/>
            <a:r>
              <a:rPr sz="1300" b="1">
                <a:solidFill>
                  <a:srgbClr val="0A2540"/>
                </a:solidFill>
                <a:latin typeface="微软雅黑"/>
                <a:ea typeface="微软雅黑"/>
              </a:rPr>
              <a:t>P1.10 定时呈现</a:t>
            </a:r>
            <a:endParaRPr sz="1300" b="1">
              <a:solidFill>
                <a:srgbClr val="0A2540"/>
              </a:solidFill>
              <a:latin typeface="微软雅黑"/>
              <a:ea typeface="微软雅黑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8503920" y="1554480"/>
            <a:ext cx="2926080" cy="640080"/>
          </a:xfrm>
          <a:prstGeom prst="roundRect">
            <a:avLst/>
          </a:prstGeom>
          <a:solidFill>
            <a:srgbClr val="2E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接收端 RX</a:t>
            </a:r>
            <a:r>
              <a:rPr lang="en-US" sz="1500" b="1">
                <a:solidFill>
                  <a:srgbClr val="FFFFFF"/>
                </a:solidFill>
                <a:latin typeface="微软雅黑"/>
                <a:ea typeface="微软雅黑"/>
              </a:rPr>
              <a:t>2</a:t>
            </a:r>
            <a:endParaRPr lang="en-US" sz="1500" b="1">
              <a:solidFill>
                <a:srgbClr val="FFFFFF"/>
              </a:solidFill>
              <a:latin typeface="微软雅黑"/>
              <a:ea typeface="微软雅黑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8503920" y="2377440"/>
            <a:ext cx="2926080" cy="6858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E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/>
          <a:lstStyle/>
          <a:p>
            <a:pPr algn="ctr"/>
            <a:r>
              <a:rPr sz="1300" b="1">
                <a:solidFill>
                  <a:srgbClr val="0A2540"/>
                </a:solidFill>
                <a:latin typeface="微软雅黑"/>
                <a:ea typeface="微软雅黑"/>
              </a:rPr>
              <a:t>解析 SDU</a:t>
            </a:r>
            <a:endParaRPr sz="1300" b="1">
              <a:solidFill>
                <a:srgbClr val="0A2540"/>
              </a:solidFill>
              <a:latin typeface="微软雅黑"/>
              <a:ea typeface="微软雅黑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8503920" y="3246120"/>
            <a:ext cx="2926080" cy="6858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E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/>
          <a:lstStyle/>
          <a:p>
            <a:pPr algn="ctr"/>
            <a:r>
              <a:rPr sz="1300" b="1">
                <a:solidFill>
                  <a:srgbClr val="0A2540"/>
                </a:solidFill>
                <a:latin typeface="微软雅黑"/>
                <a:ea typeface="微软雅黑"/>
              </a:rPr>
              <a:t>时钟伺服(offset/drift)</a:t>
            </a:r>
            <a:endParaRPr sz="1300" b="1">
              <a:solidFill>
                <a:srgbClr val="0A2540"/>
              </a:solidFill>
              <a:latin typeface="微软雅黑"/>
              <a:ea typeface="微软雅黑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8503920" y="4114800"/>
            <a:ext cx="2926080" cy="6858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E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/>
          <a:lstStyle/>
          <a:p>
            <a:pPr algn="ctr"/>
            <a:r>
              <a:rPr sz="1300" b="1">
                <a:solidFill>
                  <a:srgbClr val="0A2540"/>
                </a:solidFill>
                <a:latin typeface="微软雅黑"/>
                <a:ea typeface="微软雅黑"/>
              </a:rPr>
              <a:t>shared_ts 打戳</a:t>
            </a:r>
            <a:endParaRPr sz="1300" b="1">
              <a:solidFill>
                <a:srgbClr val="0A2540"/>
              </a:solidFill>
              <a:latin typeface="微软雅黑"/>
              <a:ea typeface="微软雅黑"/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8503920" y="4983480"/>
            <a:ext cx="2926080" cy="6858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E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/>
          <a:lstStyle/>
          <a:p>
            <a:pPr algn="ctr"/>
            <a:r>
              <a:rPr sz="1300" b="1">
                <a:solidFill>
                  <a:srgbClr val="0A2540"/>
                </a:solidFill>
                <a:latin typeface="微软雅黑"/>
                <a:ea typeface="微软雅黑"/>
              </a:rPr>
              <a:t>P1.10 定时呈现</a:t>
            </a:r>
            <a:endParaRPr sz="1300" b="1">
              <a:solidFill>
                <a:srgbClr val="0A2540"/>
              </a:solidFill>
              <a:latin typeface="微软雅黑"/>
              <a:ea typeface="微软雅黑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AF3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914400"/>
            <a:ext cx="2011680" cy="109728"/>
          </a:xfrm>
          <a:prstGeom prst="round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  <a:ea typeface="微软雅黑"/>
              </a:rPr>
              <a:t>Demo 环境</a:t>
            </a:r>
            <a:endParaRPr sz="2800" b="1">
              <a:solidFill>
                <a:srgbClr val="FFFFFF"/>
              </a:solidFill>
              <a:latin typeface="微软雅黑"/>
              <a:ea typeface="微软雅黑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B7B"/>
                </a:solidFill>
                <a:latin typeface="微软雅黑"/>
                <a:ea typeface="微软雅黑"/>
              </a:rPr>
              <a:t>SOFTWARE · HARDWARE · TOOLS</a:t>
            </a:r>
            <a:endParaRPr sz="1400" b="0">
              <a:solidFill>
                <a:srgbClr val="5A6B7B"/>
              </a:solidFill>
              <a:latin typeface="微软雅黑"/>
              <a:ea typeface="微软雅黑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40080" y="1554480"/>
            <a:ext cx="3566160" cy="18745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554480"/>
            <a:ext cx="3566160" cy="6400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00200"/>
            <a:ext cx="3566160" cy="5943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硬件 Hardware</a:t>
            </a:r>
            <a:endParaRPr sz="1500" b="1">
              <a:solidFill>
                <a:srgbClr val="FFFFFF"/>
              </a:solidFill>
              <a:latin typeface="微软雅黑"/>
              <a:ea typeface="微软雅黑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914400" y="2377440"/>
            <a:ext cx="3017520" cy="911225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300" b="0">
                <a:solidFill>
                  <a:srgbClr val="1A2B3C"/>
                </a:solidFill>
                <a:latin typeface="微软雅黑"/>
                <a:ea typeface="微软雅黑"/>
              </a:rPr>
              <a:t>• nRF54L15-DK × 3（1 发 + 2 收）</a:t>
            </a:r>
            <a:endParaRPr sz="1300" b="0">
              <a:solidFill>
                <a:srgbClr val="1A2B3C"/>
              </a:solidFill>
              <a:latin typeface="微软雅黑"/>
              <a:ea typeface="微软雅黑"/>
            </a:endParaRPr>
          </a:p>
          <a:p>
            <a:pPr algn="l"/>
            <a:r>
              <a:rPr sz="1300" b="0">
                <a:solidFill>
                  <a:srgbClr val="1A2B3C"/>
                </a:solidFill>
                <a:latin typeface="微软雅黑"/>
                <a:ea typeface="微软雅黑"/>
              </a:rPr>
              <a:t>• USB 数据线 × 3</a:t>
            </a:r>
            <a:endParaRPr sz="1300" b="0">
              <a:solidFill>
                <a:srgbClr val="1A2B3C"/>
              </a:solidFill>
              <a:latin typeface="微软雅黑"/>
              <a:ea typeface="微软雅黑"/>
            </a:endParaRPr>
          </a:p>
          <a:p>
            <a:pPr algn="l"/>
            <a:r>
              <a:rPr sz="1300" b="0">
                <a:solidFill>
                  <a:srgbClr val="1A2B3C"/>
                </a:solidFill>
                <a:latin typeface="微软雅黑"/>
                <a:ea typeface="微软雅黑"/>
              </a:rPr>
              <a:t>• 逻辑分析仪（≥ 20MS/s）</a:t>
            </a:r>
            <a:endParaRPr sz="1300" b="0">
              <a:solidFill>
                <a:srgbClr val="1A2B3C"/>
              </a:solidFill>
              <a:latin typeface="微软雅黑"/>
              <a:ea typeface="微软雅黑"/>
            </a:endParaRPr>
          </a:p>
          <a:p>
            <a:pPr algn="l"/>
            <a:r>
              <a:rPr sz="1300" b="0">
                <a:solidFill>
                  <a:srgbClr val="1A2B3C"/>
                </a:solidFill>
                <a:latin typeface="微软雅黑"/>
                <a:ea typeface="微软雅黑"/>
              </a:rPr>
              <a:t>• 杜邦线 / 测试探针</a:t>
            </a:r>
            <a:endParaRPr sz="1300" b="0">
              <a:solidFill>
                <a:srgbClr val="1A2B3C"/>
              </a:solidFill>
              <a:latin typeface="微软雅黑"/>
              <a:ea typeface="微软雅黑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4480560" y="1554480"/>
            <a:ext cx="3566160" cy="18796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E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80560" y="1554480"/>
            <a:ext cx="3566160" cy="640080"/>
          </a:xfrm>
          <a:prstGeom prst="rect">
            <a:avLst/>
          </a:prstGeom>
          <a:solidFill>
            <a:srgbClr val="2E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80560" y="1554480"/>
            <a:ext cx="3566160" cy="640080"/>
          </a:xfrm>
          <a:prstGeom prst="rect">
            <a:avLst/>
          </a:prstGeom>
          <a:solidFill>
            <a:srgbClr val="2E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软件 Software</a:t>
            </a:r>
            <a:endParaRPr sz="1500" b="1">
              <a:solidFill>
                <a:srgbClr val="FFFFFF"/>
              </a:solidFill>
              <a:latin typeface="微软雅黑"/>
              <a:ea typeface="微软雅黑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4754880" y="2377440"/>
            <a:ext cx="3017520" cy="9067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300" b="0">
                <a:solidFill>
                  <a:srgbClr val="1A2B3C"/>
                </a:solidFill>
                <a:latin typeface="微软雅黑"/>
                <a:ea typeface="微软雅黑"/>
              </a:rPr>
              <a:t>• nRF Connect SDK v3.4.0</a:t>
            </a:r>
            <a:endParaRPr sz="1300" b="0">
              <a:solidFill>
                <a:srgbClr val="1A2B3C"/>
              </a:solidFill>
              <a:latin typeface="微软雅黑"/>
              <a:ea typeface="微软雅黑"/>
            </a:endParaRPr>
          </a:p>
          <a:p>
            <a:pPr algn="l"/>
            <a:r>
              <a:rPr sz="1300" b="0">
                <a:solidFill>
                  <a:srgbClr val="1A2B3C"/>
                </a:solidFill>
                <a:latin typeface="微软雅黑"/>
                <a:ea typeface="微软雅黑"/>
              </a:rPr>
              <a:t>• Zephyr RTOS 4.4</a:t>
            </a:r>
            <a:endParaRPr sz="1300" b="0">
              <a:solidFill>
                <a:srgbClr val="1A2B3C"/>
              </a:solidFill>
              <a:latin typeface="微软雅黑"/>
              <a:ea typeface="微软雅黑"/>
            </a:endParaRPr>
          </a:p>
          <a:p>
            <a:pPr algn="l"/>
            <a:r>
              <a:rPr sz="1300" b="0">
                <a:solidFill>
                  <a:srgbClr val="1A2B3C"/>
                </a:solidFill>
                <a:latin typeface="微软雅黑"/>
                <a:ea typeface="微软雅黑"/>
              </a:rPr>
              <a:t>• 本工程固件 zephyr.hex</a:t>
            </a:r>
            <a:endParaRPr sz="1300" b="0">
              <a:solidFill>
                <a:srgbClr val="1A2B3C"/>
              </a:solidFill>
              <a:latin typeface="微软雅黑"/>
              <a:ea typeface="微软雅黑"/>
            </a:endParaRPr>
          </a:p>
          <a:p>
            <a:pPr algn="l"/>
            <a:r>
              <a:rPr sz="1300" b="0">
                <a:solidFill>
                  <a:srgbClr val="1A2B3C"/>
                </a:solidFill>
                <a:latin typeface="微软雅黑"/>
                <a:ea typeface="微软雅黑"/>
              </a:rPr>
              <a:t>• 编译：west build</a:t>
            </a:r>
            <a:endParaRPr sz="1300" b="0">
              <a:solidFill>
                <a:srgbClr val="1A2B3C"/>
              </a:solidFill>
              <a:latin typeface="微软雅黑"/>
              <a:ea typeface="微软雅黑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8321040" y="1554480"/>
            <a:ext cx="3566160" cy="1868805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0D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321040" y="1554480"/>
            <a:ext cx="3566160" cy="64008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21040" y="1554480"/>
            <a:ext cx="3566160" cy="64008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工具 Tools</a:t>
            </a:r>
            <a:endParaRPr sz="1500" b="1">
              <a:solidFill>
                <a:srgbClr val="FFFFFF"/>
              </a:solidFill>
              <a:latin typeface="微软雅黑"/>
              <a:ea typeface="微软雅黑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595360" y="2377440"/>
            <a:ext cx="3017520" cy="911225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300" b="0">
                <a:solidFill>
                  <a:srgbClr val="1A2B3C"/>
                </a:solidFill>
                <a:latin typeface="微软雅黑"/>
                <a:ea typeface="微软雅黑"/>
              </a:rPr>
              <a:t>• nrfutil（烧录 / 复位）</a:t>
            </a:r>
            <a:endParaRPr sz="1300" b="0">
              <a:solidFill>
                <a:srgbClr val="1A2B3C"/>
              </a:solidFill>
              <a:latin typeface="微软雅黑"/>
              <a:ea typeface="微软雅黑"/>
            </a:endParaRPr>
          </a:p>
          <a:p>
            <a:pPr algn="l"/>
            <a:r>
              <a:rPr sz="1300" b="0">
                <a:solidFill>
                  <a:srgbClr val="1A2B3C"/>
                </a:solidFill>
                <a:latin typeface="微软雅黑"/>
                <a:ea typeface="微软雅黑"/>
              </a:rPr>
              <a:t>• 串口终端（PuTTY / minicom）</a:t>
            </a:r>
            <a:endParaRPr sz="1300" b="0">
              <a:solidFill>
                <a:srgbClr val="1A2B3C"/>
              </a:solidFill>
              <a:latin typeface="微软雅黑"/>
              <a:ea typeface="微软雅黑"/>
            </a:endParaRPr>
          </a:p>
          <a:p>
            <a:pPr algn="l"/>
            <a:r>
              <a:rPr sz="1300" b="0">
                <a:solidFill>
                  <a:srgbClr val="1A2B3C"/>
                </a:solidFill>
                <a:latin typeface="微软雅黑"/>
                <a:ea typeface="微软雅黑"/>
              </a:rPr>
              <a:t>• 逻辑分析仪软件（Saleae 等）</a:t>
            </a:r>
            <a:endParaRPr sz="1300" b="0">
              <a:solidFill>
                <a:srgbClr val="1A2B3C"/>
              </a:solidFill>
              <a:latin typeface="微软雅黑"/>
              <a:ea typeface="微软雅黑"/>
            </a:endParaRPr>
          </a:p>
          <a:p>
            <a:pPr algn="l"/>
            <a:endParaRPr sz="1300" b="0">
              <a:solidFill>
                <a:srgbClr val="1A2B3C"/>
              </a:solidFill>
              <a:latin typeface="微软雅黑"/>
              <a:ea typeface="微软雅黑"/>
            </a:endParaRPr>
          </a:p>
        </p:txBody>
      </p:sp>
      <p:pic>
        <p:nvPicPr>
          <p:cNvPr id="18" name="图片 1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616325"/>
            <a:ext cx="4324985" cy="3041650"/>
          </a:xfrm>
          <a:prstGeom prst="rect">
            <a:avLst/>
          </a:prstGeom>
        </p:spPr>
      </p:pic>
      <p:pic>
        <p:nvPicPr>
          <p:cNvPr id="19" name="图片 1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0860" y="3616325"/>
            <a:ext cx="4709160" cy="303466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AF3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914400"/>
            <a:ext cx="2011680" cy="109728"/>
          </a:xfrm>
          <a:prstGeom prst="round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1155680" cy="52197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  <a:ea typeface="微软雅黑"/>
              </a:rPr>
              <a:t>实测数据</a:t>
            </a:r>
            <a:r>
              <a:rPr lang="en-US" sz="2800" b="1">
                <a:solidFill>
                  <a:srgbClr val="FFFFFF"/>
                </a:solidFill>
                <a:latin typeface="微软雅黑"/>
                <a:ea typeface="微软雅黑"/>
              </a:rPr>
              <a:t>1---</a:t>
            </a:r>
            <a:r>
              <a:rPr lang="zh-CN" altLang="en-US" sz="2800" b="1">
                <a:solidFill>
                  <a:srgbClr val="FFFFFF"/>
                </a:solidFill>
                <a:latin typeface="微软雅黑"/>
                <a:ea typeface="微软雅黑"/>
              </a:rPr>
              <a:t>逻辑分析仪测量</a:t>
            </a:r>
            <a:r>
              <a:rPr lang="en-US" altLang="zh-CN" sz="2800" b="1">
                <a:solidFill>
                  <a:srgbClr val="FFFFFF"/>
                </a:solidFill>
                <a:latin typeface="微软雅黑"/>
                <a:ea typeface="微软雅黑"/>
              </a:rPr>
              <a:t>IO</a:t>
            </a:r>
            <a:r>
              <a:rPr lang="zh-CN" altLang="en-US" sz="2800" b="1">
                <a:solidFill>
                  <a:srgbClr val="FFFFFF"/>
                </a:solidFill>
                <a:latin typeface="微软雅黑"/>
                <a:ea typeface="微软雅黑"/>
              </a:rPr>
              <a:t>口同步脉冲</a:t>
            </a:r>
            <a:endParaRPr lang="zh-CN" altLang="en-US" sz="2800" b="1">
              <a:solidFill>
                <a:srgbClr val="FFFFFF"/>
              </a:solidFill>
              <a:latin typeface="微软雅黑"/>
              <a:ea typeface="微软雅黑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B7B"/>
                </a:solidFill>
                <a:latin typeface="微软雅黑"/>
                <a:ea typeface="微软雅黑"/>
              </a:rPr>
              <a:t>MEASURED RESULT</a:t>
            </a:r>
            <a:endParaRPr sz="1400" b="0">
              <a:solidFill>
                <a:srgbClr val="5A6B7B"/>
              </a:solidFill>
              <a:latin typeface="微软雅黑"/>
              <a:ea typeface="微软雅黑"/>
            </a:endParaRPr>
          </a:p>
        </p:txBody>
      </p:sp>
      <p:pic>
        <p:nvPicPr>
          <p:cNvPr id="11" name="图片 1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9240" y="1160145"/>
            <a:ext cx="11389360" cy="2395220"/>
          </a:xfrm>
          <a:prstGeom prst="rect">
            <a:avLst/>
          </a:prstGeom>
        </p:spPr>
      </p:pic>
      <p:pic>
        <p:nvPicPr>
          <p:cNvPr id="12" name="图片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240" y="3663950"/>
            <a:ext cx="11211560" cy="3038475"/>
          </a:xfrm>
          <a:prstGeom prst="rect">
            <a:avLst/>
          </a:prstGeom>
        </p:spPr>
      </p:pic>
      <p:sp>
        <p:nvSpPr>
          <p:cNvPr id="13" name="文本框 12"/>
          <p:cNvSpPr txBox="1"/>
          <p:nvPr/>
        </p:nvSpPr>
        <p:spPr>
          <a:xfrm>
            <a:off x="4988560" y="5909945"/>
            <a:ext cx="3821430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600">
                <a:solidFill>
                  <a:srgbClr val="FF0000"/>
                </a:solidFill>
              </a:rPr>
              <a:t>TX</a:t>
            </a:r>
            <a:r>
              <a:rPr lang="zh-CN" altLang="en-US" sz="1600">
                <a:solidFill>
                  <a:srgbClr val="FF0000"/>
                </a:solidFill>
              </a:rPr>
              <a:t>和</a:t>
            </a:r>
            <a:r>
              <a:rPr lang="en-US" altLang="zh-CN" sz="1600">
                <a:solidFill>
                  <a:srgbClr val="FF0000"/>
                </a:solidFill>
              </a:rPr>
              <a:t>RX</a:t>
            </a:r>
            <a:r>
              <a:rPr lang="zh-CN" altLang="en-US" sz="1600">
                <a:solidFill>
                  <a:srgbClr val="FF0000"/>
                </a:solidFill>
              </a:rPr>
              <a:t>之间信号同步延时</a:t>
            </a:r>
            <a:r>
              <a:rPr lang="en-US" altLang="zh-CN" sz="1600">
                <a:solidFill>
                  <a:srgbClr val="FF0000"/>
                </a:solidFill>
              </a:rPr>
              <a:t> &lt; 1uS</a:t>
            </a:r>
            <a:endParaRPr lang="en-US" altLang="zh-CN" sz="1600">
              <a:solidFill>
                <a:srgbClr val="FF0000"/>
              </a:solidFill>
            </a:endParaRPr>
          </a:p>
          <a:p>
            <a:r>
              <a:rPr lang="en-US" altLang="zh-CN" sz="1600">
                <a:solidFill>
                  <a:srgbClr val="FF0000"/>
                </a:solidFill>
              </a:rPr>
              <a:t>RX</a:t>
            </a:r>
            <a:r>
              <a:rPr lang="zh-CN" altLang="en-US" sz="1600">
                <a:solidFill>
                  <a:srgbClr val="FF0000"/>
                </a:solidFill>
              </a:rPr>
              <a:t>和</a:t>
            </a:r>
            <a:r>
              <a:rPr lang="en-US" altLang="zh-CN" sz="1600">
                <a:solidFill>
                  <a:srgbClr val="FF0000"/>
                </a:solidFill>
              </a:rPr>
              <a:t>RX</a:t>
            </a:r>
            <a:r>
              <a:rPr lang="zh-CN" altLang="en-US" sz="1600">
                <a:solidFill>
                  <a:srgbClr val="FF0000"/>
                </a:solidFill>
              </a:rPr>
              <a:t>之间信号同步延时约</a:t>
            </a:r>
            <a:r>
              <a:rPr lang="en-US" altLang="zh-CN" sz="1600">
                <a:solidFill>
                  <a:srgbClr val="FF0000"/>
                </a:solidFill>
              </a:rPr>
              <a:t> 60nS</a:t>
            </a:r>
            <a:endParaRPr lang="en-US" altLang="zh-CN" sz="160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AF3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914400"/>
            <a:ext cx="2011680" cy="109728"/>
          </a:xfrm>
          <a:prstGeom prst="round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1155680" cy="52197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  <a:ea typeface="微软雅黑"/>
              </a:rPr>
              <a:t>实测数据</a:t>
            </a:r>
            <a:r>
              <a:rPr lang="en-US" sz="2800" b="1">
                <a:solidFill>
                  <a:srgbClr val="FFFFFF"/>
                </a:solidFill>
                <a:latin typeface="微软雅黑"/>
                <a:ea typeface="微软雅黑"/>
              </a:rPr>
              <a:t>2--- log</a:t>
            </a:r>
            <a:r>
              <a:rPr lang="zh-CN" altLang="en-US" sz="2800" b="1">
                <a:solidFill>
                  <a:srgbClr val="FFFFFF"/>
                </a:solidFill>
                <a:latin typeface="微软雅黑"/>
                <a:ea typeface="微软雅黑"/>
              </a:rPr>
              <a:t>观察</a:t>
            </a:r>
            <a:r>
              <a:rPr lang="en-US" altLang="zh-CN" sz="2800" b="1">
                <a:solidFill>
                  <a:srgbClr val="FFFFFF"/>
                </a:solidFill>
                <a:latin typeface="微软雅黑"/>
                <a:ea typeface="微软雅黑"/>
              </a:rPr>
              <a:t>TX</a:t>
            </a:r>
            <a:r>
              <a:rPr lang="zh-CN" altLang="en-US" sz="2800" b="1">
                <a:solidFill>
                  <a:srgbClr val="FFFFFF"/>
                </a:solidFill>
                <a:latin typeface="微软雅黑"/>
                <a:ea typeface="微软雅黑"/>
              </a:rPr>
              <a:t>和</a:t>
            </a:r>
            <a:r>
              <a:rPr lang="en-US" altLang="zh-CN" sz="2800" b="1">
                <a:solidFill>
                  <a:srgbClr val="FFFFFF"/>
                </a:solidFill>
                <a:latin typeface="微软雅黑"/>
                <a:ea typeface="微软雅黑"/>
              </a:rPr>
              <a:t>RX</a:t>
            </a:r>
            <a:r>
              <a:rPr lang="zh-CN" altLang="en-US" sz="2800" b="1">
                <a:solidFill>
                  <a:srgbClr val="FFFFFF"/>
                </a:solidFill>
                <a:latin typeface="微软雅黑"/>
                <a:ea typeface="微软雅黑"/>
              </a:rPr>
              <a:t>在相同</a:t>
            </a:r>
            <a:r>
              <a:rPr lang="en-US" altLang="zh-CN" sz="2800" b="1">
                <a:solidFill>
                  <a:srgbClr val="FFFFFF"/>
                </a:solidFill>
                <a:latin typeface="微软雅黑"/>
                <a:ea typeface="微软雅黑"/>
              </a:rPr>
              <a:t>counter</a:t>
            </a:r>
            <a:r>
              <a:rPr lang="zh-CN" altLang="en-US" sz="2800" b="1">
                <a:solidFill>
                  <a:srgbClr val="FFFFFF"/>
                </a:solidFill>
                <a:latin typeface="微软雅黑"/>
                <a:ea typeface="微软雅黑"/>
              </a:rPr>
              <a:t>时的时间戳</a:t>
            </a:r>
            <a:endParaRPr lang="zh-CN" altLang="en-US" sz="2800" b="1">
              <a:solidFill>
                <a:srgbClr val="FFFFFF"/>
              </a:solidFill>
              <a:latin typeface="微软雅黑"/>
              <a:ea typeface="微软雅黑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B7B"/>
                </a:solidFill>
                <a:latin typeface="微软雅黑"/>
                <a:ea typeface="微软雅黑"/>
              </a:rPr>
              <a:t>MEASURED RESULT</a:t>
            </a:r>
            <a:endParaRPr sz="1400" b="0">
              <a:solidFill>
                <a:srgbClr val="5A6B7B"/>
              </a:solidFill>
              <a:latin typeface="微软雅黑"/>
              <a:ea typeface="微软雅黑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149840" y="5632450"/>
            <a:ext cx="1984375" cy="101473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6000" b="1">
                <a:solidFill>
                  <a:srgbClr val="1F6FEB"/>
                </a:solidFill>
                <a:latin typeface="微软雅黑"/>
                <a:ea typeface="微软雅黑"/>
              </a:rPr>
              <a:t>&lt;1</a:t>
            </a:r>
            <a:r>
              <a:rPr sz="6000" b="1">
                <a:solidFill>
                  <a:srgbClr val="1F6FEB"/>
                </a:solidFill>
                <a:latin typeface="微软雅黑"/>
                <a:ea typeface="微软雅黑"/>
              </a:rPr>
              <a:t>µs</a:t>
            </a:r>
            <a:endParaRPr sz="6000" b="1">
              <a:solidFill>
                <a:srgbClr val="1F6FEB"/>
              </a:solidFill>
              <a:latin typeface="微软雅黑"/>
              <a:ea typeface="微软雅黑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149840" y="5315585"/>
            <a:ext cx="1824355" cy="3683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1A2B3C"/>
                </a:solidFill>
                <a:latin typeface="微软雅黑"/>
                <a:ea typeface="微软雅黑"/>
              </a:rPr>
              <a:t>时间戳一致误差</a:t>
            </a:r>
            <a:endParaRPr sz="1800" b="1">
              <a:solidFill>
                <a:srgbClr val="1A2B3C"/>
              </a:solidFill>
              <a:latin typeface="微软雅黑"/>
              <a:ea typeface="微软雅黑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0149840" y="1746250"/>
            <a:ext cx="1985010" cy="3127375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FF0000"/>
                </a:solidFill>
                <a:latin typeface="微软雅黑"/>
                <a:ea typeface="微软雅黑"/>
              </a:rPr>
              <a:t>TX: Sent SDU counter </a:t>
            </a:r>
            <a:r>
              <a:rPr lang="en-US" sz="1400" b="0">
                <a:solidFill>
                  <a:srgbClr val="FF0000"/>
                </a:solidFill>
                <a:latin typeface="微软雅黑"/>
                <a:ea typeface="微软雅黑"/>
              </a:rPr>
              <a:t>1430600</a:t>
            </a:r>
            <a:endParaRPr sz="1400" b="0">
              <a:solidFill>
                <a:srgbClr val="FF0000"/>
              </a:solidFill>
              <a:latin typeface="微软雅黑"/>
              <a:ea typeface="微软雅黑"/>
            </a:endParaRPr>
          </a:p>
          <a:p>
            <a:pPr algn="l"/>
            <a:r>
              <a:rPr sz="1400" b="0">
                <a:solidFill>
                  <a:srgbClr val="FF0000"/>
                </a:solidFill>
                <a:latin typeface="微软雅黑"/>
                <a:ea typeface="微软雅黑"/>
              </a:rPr>
              <a:t>     timestamp </a:t>
            </a:r>
            <a:r>
              <a:rPr lang="en-US" sz="1400" b="0">
                <a:solidFill>
                  <a:srgbClr val="FF0000"/>
                </a:solidFill>
                <a:latin typeface="微软雅黑"/>
                <a:ea typeface="微软雅黑"/>
              </a:rPr>
              <a:t>2858196111</a:t>
            </a:r>
            <a:r>
              <a:rPr sz="1400" b="0">
                <a:solidFill>
                  <a:srgbClr val="FF0000"/>
                </a:solidFill>
                <a:latin typeface="微软雅黑"/>
                <a:ea typeface="微软雅黑"/>
              </a:rPr>
              <a:t> us</a:t>
            </a:r>
            <a:endParaRPr sz="1400" b="0">
              <a:solidFill>
                <a:srgbClr val="FF0000"/>
              </a:solidFill>
              <a:latin typeface="微软雅黑"/>
              <a:ea typeface="微软雅黑"/>
            </a:endParaRPr>
          </a:p>
          <a:p>
            <a:pPr algn="l"/>
            <a:endParaRPr sz="1400" b="0">
              <a:solidFill>
                <a:srgbClr val="FF0000"/>
              </a:solidFill>
              <a:latin typeface="微软雅黑"/>
              <a:ea typeface="微软雅黑"/>
            </a:endParaRPr>
          </a:p>
          <a:p>
            <a:pPr algn="l"/>
            <a:r>
              <a:rPr sz="1400" b="0">
                <a:solidFill>
                  <a:srgbClr val="FF0000"/>
                </a:solidFill>
                <a:latin typeface="微软雅黑"/>
                <a:ea typeface="微软雅黑"/>
              </a:rPr>
              <a:t>RX: Recv SDU counter </a:t>
            </a:r>
            <a:r>
              <a:rPr lang="en-US" sz="1400">
                <a:solidFill>
                  <a:srgbClr val="FF0000"/>
                </a:solidFill>
                <a:latin typeface="微软雅黑"/>
                <a:ea typeface="微软雅黑"/>
                <a:sym typeface="+mn-ea"/>
              </a:rPr>
              <a:t>1430600</a:t>
            </a:r>
            <a:endParaRPr sz="1400" b="0">
              <a:solidFill>
                <a:srgbClr val="FF0000"/>
              </a:solidFill>
              <a:latin typeface="微软雅黑"/>
              <a:ea typeface="微软雅黑"/>
            </a:endParaRPr>
          </a:p>
          <a:p>
            <a:pPr algn="l"/>
            <a:r>
              <a:rPr sz="1400" b="0">
                <a:solidFill>
                  <a:srgbClr val="FF0000"/>
                </a:solidFill>
                <a:latin typeface="微软雅黑"/>
                <a:ea typeface="微软雅黑"/>
              </a:rPr>
              <a:t>     shared_ts </a:t>
            </a:r>
            <a:r>
              <a:rPr lang="en-US" sz="1400">
                <a:solidFill>
                  <a:srgbClr val="FF0000"/>
                </a:solidFill>
                <a:latin typeface="微软雅黑"/>
                <a:ea typeface="微软雅黑"/>
                <a:sym typeface="+mn-ea"/>
              </a:rPr>
              <a:t>2858196111</a:t>
            </a:r>
            <a:r>
              <a:rPr sz="1400" b="0">
                <a:solidFill>
                  <a:srgbClr val="FF0000"/>
                </a:solidFill>
                <a:latin typeface="微软雅黑"/>
                <a:ea typeface="微软雅黑"/>
              </a:rPr>
              <a:t> us</a:t>
            </a:r>
            <a:endParaRPr sz="1400" b="0">
              <a:solidFill>
                <a:srgbClr val="FF0000"/>
              </a:solidFill>
              <a:latin typeface="微软雅黑"/>
              <a:ea typeface="微软雅黑"/>
            </a:endParaRPr>
          </a:p>
          <a:p>
            <a:pPr algn="l"/>
            <a:endParaRPr sz="1400" b="0">
              <a:solidFill>
                <a:srgbClr val="FF0000"/>
              </a:solidFill>
              <a:latin typeface="微软雅黑"/>
              <a:ea typeface="微软雅黑"/>
            </a:endParaRPr>
          </a:p>
          <a:p>
            <a:pPr algn="l"/>
            <a:r>
              <a:rPr sz="1400" b="0">
                <a:solidFill>
                  <a:srgbClr val="FF0000"/>
                </a:solidFill>
                <a:latin typeface="微软雅黑"/>
                <a:ea typeface="微软雅黑"/>
              </a:rPr>
              <a:t>→ 完全一致</a:t>
            </a:r>
            <a:endParaRPr sz="1400" b="0">
              <a:solidFill>
                <a:srgbClr val="FF0000"/>
              </a:solidFill>
              <a:latin typeface="微软雅黑"/>
              <a:ea typeface="微软雅黑"/>
            </a:endParaRPr>
          </a:p>
        </p:txBody>
      </p:sp>
      <p:pic>
        <p:nvPicPr>
          <p:cNvPr id="11" name="图片 1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1170305"/>
            <a:ext cx="10049510" cy="566229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AF3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914400"/>
            <a:ext cx="2011680" cy="109728"/>
          </a:xfrm>
          <a:prstGeom prst="round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  <a:ea typeface="微软雅黑"/>
              </a:rPr>
              <a:t>技术优势</a:t>
            </a:r>
            <a:endParaRPr sz="2800" b="1">
              <a:solidFill>
                <a:srgbClr val="FFFFFF"/>
              </a:solidFill>
              <a:latin typeface="微软雅黑"/>
              <a:ea typeface="微软雅黑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B7B"/>
                </a:solidFill>
                <a:latin typeface="微软雅黑"/>
                <a:ea typeface="微软雅黑"/>
              </a:rPr>
              <a:t>ADVANTAGES</a:t>
            </a:r>
            <a:endParaRPr sz="1400" b="0">
              <a:solidFill>
                <a:srgbClr val="5A6B7B"/>
              </a:solidFill>
              <a:latin typeface="微软雅黑"/>
              <a:ea typeface="微软雅黑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40080" y="1554480"/>
            <a:ext cx="5303520" cy="2240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554480"/>
            <a:ext cx="5303520" cy="5029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554480"/>
            <a:ext cx="5303520" cy="5029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微秒级精度</a:t>
            </a:r>
            <a:endParaRPr sz="1500" b="1">
              <a:solidFill>
                <a:srgbClr val="FFFFFF"/>
              </a:solidFill>
              <a:latin typeface="微软雅黑"/>
              <a:ea typeface="微软雅黑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914400" y="2212848"/>
            <a:ext cx="4754880" cy="6680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1A2B3C"/>
                </a:solidFill>
                <a:latin typeface="微软雅黑"/>
                <a:ea typeface="微软雅黑"/>
              </a:rPr>
              <a:t>• controller-timed 硬件呈现（GRTC/DPPI/GPIOTE）</a:t>
            </a:r>
            <a:endParaRPr sz="1250" b="0">
              <a:solidFill>
                <a:srgbClr val="1A2B3C"/>
              </a:solidFill>
              <a:latin typeface="微软雅黑"/>
              <a:ea typeface="微软雅黑"/>
            </a:endParaRPr>
          </a:p>
          <a:p>
            <a:pPr algn="l"/>
            <a:r>
              <a:rPr sz="1250" b="0">
                <a:solidFill>
                  <a:srgbClr val="1A2B3C"/>
                </a:solidFill>
                <a:latin typeface="微软雅黑"/>
                <a:ea typeface="微软雅黑"/>
              </a:rPr>
              <a:t>• 时钟伺服 + 漂移外推，消除陈旧误差</a:t>
            </a:r>
            <a:endParaRPr sz="1250" b="0">
              <a:solidFill>
                <a:srgbClr val="1A2B3C"/>
              </a:solidFill>
              <a:latin typeface="微软雅黑"/>
              <a:ea typeface="微软雅黑"/>
            </a:endParaRPr>
          </a:p>
          <a:p>
            <a:pPr algn="l"/>
            <a:r>
              <a:rPr sz="1250" b="0">
                <a:solidFill>
                  <a:srgbClr val="1A2B3C"/>
                </a:solidFill>
                <a:latin typeface="微软雅黑"/>
                <a:ea typeface="微软雅黑"/>
              </a:rPr>
              <a:t>• 实测时间戳一致误差 </a:t>
            </a:r>
            <a:r>
              <a:rPr lang="en-US" sz="1250" b="0">
                <a:solidFill>
                  <a:srgbClr val="1A2B3C"/>
                </a:solidFill>
                <a:latin typeface="微软雅黑"/>
                <a:ea typeface="微软雅黑"/>
              </a:rPr>
              <a:t>&lt;1</a:t>
            </a:r>
            <a:r>
              <a:rPr sz="1250" b="0">
                <a:solidFill>
                  <a:srgbClr val="1A2B3C"/>
                </a:solidFill>
                <a:latin typeface="微软雅黑"/>
                <a:ea typeface="微软雅黑"/>
              </a:rPr>
              <a:t>µs</a:t>
            </a:r>
            <a:endParaRPr sz="1250" b="0">
              <a:solidFill>
                <a:srgbClr val="1A2B3C"/>
              </a:solidFill>
              <a:latin typeface="微软雅黑"/>
              <a:ea typeface="微软雅黑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6263640" y="1554480"/>
            <a:ext cx="5303520" cy="2240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63640" y="1554480"/>
            <a:ext cx="5303520" cy="5029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1554480"/>
            <a:ext cx="5303520" cy="5029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长期稳定可靠</a:t>
            </a:r>
            <a:endParaRPr sz="1500" b="1">
              <a:solidFill>
                <a:srgbClr val="FFFFFF"/>
              </a:solidFill>
              <a:latin typeface="微软雅黑"/>
              <a:ea typeface="微软雅黑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537959" y="2212848"/>
            <a:ext cx="47548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1A2B3C"/>
                </a:solidFill>
                <a:latin typeface="微软雅黑"/>
                <a:ea typeface="微软雅黑"/>
              </a:rPr>
              <a:t>• 在线估计晶振漂移（ppm），持续跟踪</a:t>
            </a:r>
            <a:endParaRPr sz="1250" b="0">
              <a:solidFill>
                <a:srgbClr val="1A2B3C"/>
              </a:solidFill>
              <a:latin typeface="微软雅黑"/>
              <a:ea typeface="微软雅黑"/>
            </a:endParaRPr>
          </a:p>
          <a:p>
            <a:pPr algn="l"/>
            <a:r>
              <a:rPr sz="1250" b="0">
                <a:solidFill>
                  <a:srgbClr val="1A2B3C"/>
                </a:solidFill>
                <a:latin typeface="微软雅黑"/>
                <a:ea typeface="微软雅黑"/>
              </a:rPr>
              <a:t>• 失同步 holdover 按最后速率滑行</a:t>
            </a:r>
            <a:endParaRPr sz="1250" b="0">
              <a:solidFill>
                <a:srgbClr val="1A2B3C"/>
              </a:solidFill>
              <a:latin typeface="微软雅黑"/>
              <a:ea typeface="微软雅黑"/>
            </a:endParaRPr>
          </a:p>
          <a:p>
            <a:pPr algn="l"/>
            <a:r>
              <a:rPr sz="1250" b="0">
                <a:solidFill>
                  <a:srgbClr val="1A2B3C"/>
                </a:solidFill>
                <a:latin typeface="微软雅黑"/>
                <a:ea typeface="微软雅黑"/>
              </a:rPr>
              <a:t>• 32 位时间戳回绕正确处理</a:t>
            </a:r>
            <a:endParaRPr sz="1250" b="0">
              <a:solidFill>
                <a:srgbClr val="1A2B3C"/>
              </a:solidFill>
              <a:latin typeface="微软雅黑"/>
              <a:ea typeface="微软雅黑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640080" y="3931920"/>
            <a:ext cx="5303520" cy="2240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3931920"/>
            <a:ext cx="5303520" cy="5029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3931920"/>
            <a:ext cx="5303520" cy="5029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轻量易扩展</a:t>
            </a:r>
            <a:endParaRPr sz="1500" b="1">
              <a:solidFill>
                <a:srgbClr val="FFFFFF"/>
              </a:solidFill>
              <a:latin typeface="微软雅黑"/>
              <a:ea typeface="微软雅黑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914400" y="4590288"/>
            <a:ext cx="47548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1A2B3C"/>
                </a:solidFill>
                <a:latin typeface="微软雅黑"/>
                <a:ea typeface="微软雅黑"/>
              </a:rPr>
              <a:t>• 一对多广播，无连接、无回传</a:t>
            </a:r>
            <a:endParaRPr sz="1250" b="0">
              <a:solidFill>
                <a:srgbClr val="1A2B3C"/>
              </a:solidFill>
              <a:latin typeface="微软雅黑"/>
              <a:ea typeface="微软雅黑"/>
            </a:endParaRPr>
          </a:p>
          <a:p>
            <a:pPr algn="l"/>
            <a:r>
              <a:rPr sz="1250" b="0">
                <a:solidFill>
                  <a:srgbClr val="1A2B3C"/>
                </a:solidFill>
                <a:latin typeface="微软雅黑"/>
                <a:ea typeface="微软雅黑"/>
              </a:rPr>
              <a:t>• 接收端数量可扩展</a:t>
            </a:r>
            <a:endParaRPr sz="1250" b="0">
              <a:solidFill>
                <a:srgbClr val="1A2B3C"/>
              </a:solidFill>
              <a:latin typeface="微软雅黑"/>
              <a:ea typeface="微软雅黑"/>
            </a:endParaRPr>
          </a:p>
          <a:p>
            <a:pPr algn="l"/>
            <a:r>
              <a:rPr sz="1250" b="0">
                <a:solidFill>
                  <a:srgbClr val="1A2B3C"/>
                </a:solidFill>
                <a:latin typeface="微软雅黑"/>
                <a:ea typeface="微软雅黑"/>
              </a:rPr>
              <a:t>• O(1) 伺服、无动态内存、200Hz 开销可忽略</a:t>
            </a:r>
            <a:endParaRPr sz="1250" b="0">
              <a:solidFill>
                <a:srgbClr val="1A2B3C"/>
              </a:solidFill>
              <a:latin typeface="微软雅黑"/>
              <a:ea typeface="微软雅黑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6263640" y="3931920"/>
            <a:ext cx="5303520" cy="2240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63640" y="3931920"/>
            <a:ext cx="5303520" cy="5029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63640" y="3931920"/>
            <a:ext cx="5303520" cy="5029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硬件级确定性</a:t>
            </a:r>
            <a:endParaRPr sz="1500" b="1">
              <a:solidFill>
                <a:srgbClr val="FFFFFF"/>
              </a:solidFill>
              <a:latin typeface="微软雅黑"/>
              <a:ea typeface="微软雅黑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537959" y="4590288"/>
            <a:ext cx="47548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1A2B3C"/>
                </a:solidFill>
                <a:latin typeface="微软雅黑"/>
                <a:ea typeface="微软雅黑"/>
              </a:rPr>
              <a:t>• GPIO 呈现免软件线程调度抖动</a:t>
            </a:r>
            <a:endParaRPr sz="1250" b="0">
              <a:solidFill>
                <a:srgbClr val="1A2B3C"/>
              </a:solidFill>
              <a:latin typeface="微软雅黑"/>
              <a:ea typeface="微软雅黑"/>
            </a:endParaRPr>
          </a:p>
          <a:p>
            <a:pPr algn="l"/>
            <a:r>
              <a:rPr sz="1250" b="0">
                <a:solidFill>
                  <a:srgbClr val="1A2B3C"/>
                </a:solidFill>
                <a:latin typeface="微软雅黑"/>
                <a:ea typeface="微软雅黑"/>
              </a:rPr>
              <a:t>• SET/CLR 绝对电平、幂等自愈</a:t>
            </a:r>
            <a:endParaRPr sz="1250" b="0">
              <a:solidFill>
                <a:srgbClr val="1A2B3C"/>
              </a:solidFill>
              <a:latin typeface="微软雅黑"/>
              <a:ea typeface="微软雅黑"/>
            </a:endParaRPr>
          </a:p>
          <a:p>
            <a:pPr algn="l"/>
            <a:r>
              <a:rPr sz="1250" b="0">
                <a:solidFill>
                  <a:srgbClr val="1A2B3C"/>
                </a:solidFill>
                <a:latin typeface="微软雅黑"/>
                <a:ea typeface="微软雅黑"/>
              </a:rPr>
              <a:t>• 中位数估计，对丢包/重传鲁棒</a:t>
            </a:r>
            <a:endParaRPr sz="1250" b="0">
              <a:solidFill>
                <a:srgbClr val="1A2B3C"/>
              </a:solidFill>
              <a:latin typeface="微软雅黑"/>
              <a:ea typeface="微软雅黑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AF3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914400"/>
            <a:ext cx="2011680" cy="109728"/>
          </a:xfrm>
          <a:prstGeom prst="round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  <a:ea typeface="微软雅黑"/>
              </a:rPr>
              <a:t>应用场景</a:t>
            </a:r>
            <a:endParaRPr sz="2800" b="1">
              <a:solidFill>
                <a:srgbClr val="FFFFFF"/>
              </a:solidFill>
              <a:latin typeface="微软雅黑"/>
              <a:ea typeface="微软雅黑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B7B"/>
                </a:solidFill>
                <a:latin typeface="微软雅黑"/>
                <a:ea typeface="微软雅黑"/>
              </a:rPr>
              <a:t>SCENARIOS</a:t>
            </a:r>
            <a:endParaRPr sz="1400" b="0">
              <a:solidFill>
                <a:srgbClr val="5A6B7B"/>
              </a:solidFill>
              <a:latin typeface="微软雅黑"/>
              <a:ea typeface="微软雅黑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2651760" cy="2926080"/>
          </a:xfrm>
          <a:prstGeom prst="roundRect">
            <a:avLst/>
          </a:prstGeom>
          <a:solidFill>
            <a:srgbClr val="F5F9FF"/>
          </a:solidFill>
          <a:ln w="15240">
            <a:solidFill>
              <a:srgbClr val="2E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146304" cy="29260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19" y="2103120"/>
            <a:ext cx="21945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A2540"/>
                </a:solidFill>
                <a:latin typeface="微软雅黑"/>
                <a:ea typeface="微软雅黑"/>
              </a:rPr>
              <a:t>分布式采集</a:t>
            </a:r>
            <a:endParaRPr sz="1800" b="1">
              <a:solidFill>
                <a:srgbClr val="0A2540"/>
              </a:solidFill>
              <a:latin typeface="微软雅黑"/>
              <a:ea typeface="微软雅黑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960119" y="2834640"/>
            <a:ext cx="219456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B7B"/>
                </a:solidFill>
                <a:latin typeface="微软雅黑"/>
                <a:ea typeface="微软雅黑"/>
              </a:rPr>
              <a:t>多传感器/多设备</a:t>
            </a:r>
            <a:endParaRPr sz="1400" b="0">
              <a:solidFill>
                <a:srgbClr val="5A6B7B"/>
              </a:solidFill>
              <a:latin typeface="微软雅黑"/>
              <a:ea typeface="微软雅黑"/>
            </a:endParaRPr>
          </a:p>
          <a:p>
            <a:pPr algn="l"/>
            <a:r>
              <a:rPr sz="1400" b="0">
                <a:solidFill>
                  <a:srgbClr val="5A6B7B"/>
                </a:solidFill>
                <a:latin typeface="微软雅黑"/>
                <a:ea typeface="微软雅黑"/>
              </a:rPr>
              <a:t>精密时间戳对齐</a:t>
            </a:r>
            <a:endParaRPr sz="1400" b="0">
              <a:solidFill>
                <a:srgbClr val="5A6B7B"/>
              </a:solidFill>
              <a:latin typeface="微软雅黑"/>
              <a:ea typeface="微软雅黑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3520439" y="1828800"/>
            <a:ext cx="2651760" cy="2926080"/>
          </a:xfrm>
          <a:prstGeom prst="roundRect">
            <a:avLst/>
          </a:prstGeom>
          <a:solidFill>
            <a:srgbClr val="F5F9FF"/>
          </a:solidFill>
          <a:ln w="15240">
            <a:solidFill>
              <a:srgbClr val="2E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520439" y="1828800"/>
            <a:ext cx="146304" cy="29260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40479" y="2103120"/>
            <a:ext cx="21945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A2540"/>
                </a:solidFill>
                <a:latin typeface="微软雅黑"/>
                <a:ea typeface="微软雅黑"/>
              </a:rPr>
              <a:t>工业控制</a:t>
            </a:r>
            <a:endParaRPr sz="1800" b="1">
              <a:solidFill>
                <a:srgbClr val="0A2540"/>
              </a:solidFill>
              <a:latin typeface="微软雅黑"/>
              <a:ea typeface="微软雅黑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3840479" y="2834640"/>
            <a:ext cx="219456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B7B"/>
                </a:solidFill>
                <a:latin typeface="微软雅黑"/>
                <a:ea typeface="微软雅黑"/>
              </a:rPr>
              <a:t>状态监测与</a:t>
            </a:r>
            <a:endParaRPr sz="1400" b="0">
              <a:solidFill>
                <a:srgbClr val="5A6B7B"/>
              </a:solidFill>
              <a:latin typeface="微软雅黑"/>
              <a:ea typeface="微软雅黑"/>
            </a:endParaRPr>
          </a:p>
          <a:p>
            <a:pPr algn="l"/>
            <a:r>
              <a:rPr sz="1400" b="0">
                <a:solidFill>
                  <a:srgbClr val="5A6B7B"/>
                </a:solidFill>
                <a:latin typeface="微软雅黑"/>
                <a:ea typeface="微软雅黑"/>
              </a:rPr>
              <a:t>协同控制</a:t>
            </a:r>
            <a:endParaRPr sz="1400" b="0">
              <a:solidFill>
                <a:srgbClr val="5A6B7B"/>
              </a:solidFill>
              <a:latin typeface="微软雅黑"/>
              <a:ea typeface="微软雅黑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6400800" y="1828800"/>
            <a:ext cx="2651760" cy="2926080"/>
          </a:xfrm>
          <a:prstGeom prst="roundRect">
            <a:avLst/>
          </a:prstGeom>
          <a:solidFill>
            <a:srgbClr val="F5F9FF"/>
          </a:solidFill>
          <a:ln w="15240">
            <a:solidFill>
              <a:srgbClr val="2E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0" y="1828800"/>
            <a:ext cx="146304" cy="29260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20840" y="2103120"/>
            <a:ext cx="21945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A2540"/>
                </a:solidFill>
                <a:latin typeface="微软雅黑"/>
                <a:ea typeface="微软雅黑"/>
              </a:rPr>
              <a:t>声学/振动</a:t>
            </a:r>
            <a:endParaRPr sz="1800" b="1">
              <a:solidFill>
                <a:srgbClr val="0A2540"/>
              </a:solidFill>
              <a:latin typeface="微软雅黑"/>
              <a:ea typeface="微软雅黑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720840" y="2834640"/>
            <a:ext cx="219456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B7B"/>
                </a:solidFill>
                <a:latin typeface="微软雅黑"/>
                <a:ea typeface="微软雅黑"/>
              </a:rPr>
              <a:t>多通道同步</a:t>
            </a:r>
            <a:endParaRPr sz="1400" b="0">
              <a:solidFill>
                <a:srgbClr val="5A6B7B"/>
              </a:solidFill>
              <a:latin typeface="微软雅黑"/>
              <a:ea typeface="微软雅黑"/>
            </a:endParaRPr>
          </a:p>
          <a:p>
            <a:pPr algn="l"/>
            <a:r>
              <a:rPr sz="1400" b="0">
                <a:solidFill>
                  <a:srgbClr val="5A6B7B"/>
                </a:solidFill>
                <a:latin typeface="微软雅黑"/>
                <a:ea typeface="微软雅黑"/>
              </a:rPr>
              <a:t>采集分析</a:t>
            </a:r>
            <a:endParaRPr sz="1400" b="0">
              <a:solidFill>
                <a:srgbClr val="5A6B7B"/>
              </a:solidFill>
              <a:latin typeface="微软雅黑"/>
              <a:ea typeface="微软雅黑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9281160" y="1828800"/>
            <a:ext cx="2651760" cy="2926080"/>
          </a:xfrm>
          <a:prstGeom prst="roundRect">
            <a:avLst/>
          </a:prstGeom>
          <a:solidFill>
            <a:srgbClr val="F5F9FF"/>
          </a:solidFill>
          <a:ln w="15240">
            <a:solidFill>
              <a:srgbClr val="2E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281160" y="1828800"/>
            <a:ext cx="146304" cy="29260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0" y="2103120"/>
            <a:ext cx="21945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A2540"/>
                </a:solidFill>
                <a:latin typeface="微软雅黑"/>
                <a:ea typeface="微软雅黑"/>
              </a:rPr>
              <a:t>协同测量</a:t>
            </a:r>
            <a:endParaRPr sz="1800" b="1">
              <a:solidFill>
                <a:srgbClr val="0A2540"/>
              </a:solidFill>
              <a:latin typeface="微软雅黑"/>
              <a:ea typeface="微软雅黑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9601200" y="2834640"/>
            <a:ext cx="219456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B7B"/>
                </a:solidFill>
                <a:latin typeface="微软雅黑"/>
                <a:ea typeface="微软雅黑"/>
              </a:rPr>
              <a:t>统一时间基准的</a:t>
            </a:r>
            <a:endParaRPr sz="1400" b="0">
              <a:solidFill>
                <a:srgbClr val="5A6B7B"/>
              </a:solidFill>
              <a:latin typeface="微软雅黑"/>
              <a:ea typeface="微软雅黑"/>
            </a:endParaRPr>
          </a:p>
          <a:p>
            <a:pPr algn="l"/>
            <a:r>
              <a:rPr sz="1400" b="0">
                <a:solidFill>
                  <a:srgbClr val="5A6B7B"/>
                </a:solidFill>
                <a:latin typeface="微软雅黑"/>
                <a:ea typeface="微软雅黑"/>
              </a:rPr>
              <a:t>测量系统</a:t>
            </a:r>
            <a:endParaRPr sz="1400" b="0">
              <a:solidFill>
                <a:srgbClr val="5A6B7B"/>
              </a:solidFill>
              <a:latin typeface="微软雅黑"/>
              <a:ea typeface="微软雅黑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418349" y="5069047"/>
            <a:ext cx="80818" cy="80818"/>
          </a:xfrm>
          <a:prstGeom prst="ellipse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56662" y="3833542"/>
            <a:ext cx="114141" cy="114141"/>
          </a:xfrm>
          <a:prstGeom prst="ellipse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026811" y="2109142"/>
            <a:ext cx="155614" cy="155614"/>
          </a:xfrm>
          <a:prstGeom prst="ellipse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122938" y="4435352"/>
            <a:ext cx="59218" cy="59218"/>
          </a:xfrm>
          <a:prstGeom prst="ellipse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387461" y="5192196"/>
            <a:ext cx="101145" cy="101145"/>
          </a:xfrm>
          <a:prstGeom prst="ellipse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986159" y="514771"/>
            <a:ext cx="58567" cy="58567"/>
          </a:xfrm>
          <a:prstGeom prst="ellipse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994457" y="6246141"/>
            <a:ext cx="63565" cy="63565"/>
          </a:xfrm>
          <a:prstGeom prst="ellipse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841949" y="1567593"/>
            <a:ext cx="97342" cy="97342"/>
          </a:xfrm>
          <a:prstGeom prst="ellipse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82880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微软雅黑"/>
                <a:ea typeface="微软雅黑"/>
              </a:rPr>
              <a:t>总结</a:t>
            </a:r>
            <a:endParaRPr sz="4000" b="1">
              <a:solidFill>
                <a:srgbClr val="FFFFFF"/>
              </a:solidFill>
              <a:latin typeface="微软雅黑"/>
              <a:ea typeface="微软雅黑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22960" y="2926080"/>
            <a:ext cx="10515600" cy="9836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00D4FF"/>
                </a:solidFill>
                <a:latin typeface="微软雅黑"/>
                <a:ea typeface="微软雅黑"/>
              </a:rPr>
              <a:t>基于 BLE BIS + 控制器时间戳 + 时钟伺服，实现微秒级多节点时间同步</a:t>
            </a:r>
            <a:endParaRPr sz="2000" b="0">
              <a:solidFill>
                <a:srgbClr val="00D4FF"/>
              </a:solidFill>
              <a:latin typeface="微软雅黑"/>
              <a:ea typeface="微软雅黑"/>
            </a:endParaRPr>
          </a:p>
          <a:p>
            <a:pPr algn="l"/>
          </a:p>
          <a:p>
            <a:pPr algn="l"/>
            <a:r>
              <a:rPr sz="2000" b="0">
                <a:solidFill>
                  <a:srgbClr val="00D4FF"/>
                </a:solidFill>
                <a:latin typeface="微软雅黑"/>
                <a:ea typeface="微软雅黑"/>
              </a:rPr>
              <a:t>实测时间戳完全一致（</a:t>
            </a:r>
            <a:r>
              <a:rPr lang="en-US" sz="2000" b="0">
                <a:solidFill>
                  <a:srgbClr val="00D4FF"/>
                </a:solidFill>
                <a:latin typeface="微软雅黑"/>
                <a:ea typeface="微软雅黑"/>
              </a:rPr>
              <a:t>&lt;1</a:t>
            </a:r>
            <a:r>
              <a:rPr sz="2000" b="0">
                <a:solidFill>
                  <a:srgbClr val="00D4FF"/>
                </a:solidFill>
                <a:latin typeface="微软雅黑"/>
                <a:ea typeface="微软雅黑"/>
              </a:rPr>
              <a:t>µs）· 脉冲边沿</a:t>
            </a:r>
            <a:r>
              <a:rPr lang="zh-CN" sz="2000" b="0">
                <a:solidFill>
                  <a:srgbClr val="00D4FF"/>
                </a:solidFill>
                <a:latin typeface="微软雅黑"/>
                <a:ea typeface="微软雅黑"/>
              </a:rPr>
              <a:t>亚</a:t>
            </a:r>
            <a:r>
              <a:rPr sz="2000" b="0">
                <a:solidFill>
                  <a:srgbClr val="00D4FF"/>
                </a:solidFill>
                <a:latin typeface="微软雅黑"/>
                <a:ea typeface="微软雅黑"/>
              </a:rPr>
              <a:t>µs 级</a:t>
            </a:r>
            <a:r>
              <a:rPr lang="en-US" sz="2000" b="0">
                <a:solidFill>
                  <a:srgbClr val="00D4FF"/>
                </a:solidFill>
                <a:latin typeface="微软雅黑"/>
                <a:ea typeface="微软雅黑"/>
              </a:rPr>
              <a:t>(600nS)</a:t>
            </a:r>
            <a:r>
              <a:rPr sz="2000" b="0">
                <a:solidFill>
                  <a:srgbClr val="00D4FF"/>
                </a:solidFill>
                <a:latin typeface="微软雅黑"/>
                <a:ea typeface="微软雅黑"/>
              </a:rPr>
              <a:t>对齐 · 长期稳定 · 一对多可扩展</a:t>
            </a:r>
            <a:endParaRPr sz="2000" b="0">
              <a:solidFill>
                <a:srgbClr val="00D4FF"/>
              </a:solidFill>
              <a:latin typeface="微软雅黑"/>
              <a:ea typeface="微软雅黑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868680" y="5394960"/>
            <a:ext cx="2377440" cy="54864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566928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微软雅黑"/>
                <a:ea typeface="微软雅黑"/>
              </a:rPr>
              <a:t>感谢观看 · 欢迎交流</a:t>
            </a:r>
            <a:endParaRPr sz="1600" b="0">
              <a:solidFill>
                <a:srgbClr val="FFFFFF"/>
              </a:solidFill>
              <a:latin typeface="微软雅黑"/>
              <a:ea typeface="微软雅黑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2466</Words>
  <Application>WPS 演示</Application>
  <PresentationFormat>On-screen Show (4:3)</PresentationFormat>
  <Paragraphs>287</Paragraphs>
  <Slides>12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12</vt:i4>
      </vt:variant>
    </vt:vector>
  </HeadingPairs>
  <TitlesOfParts>
    <vt:vector size="26" baseType="lpstr">
      <vt:lpstr>Arial</vt:lpstr>
      <vt:lpstr>宋体</vt:lpstr>
      <vt:lpstr>Wingdings</vt:lpstr>
      <vt:lpstr>Arial</vt:lpstr>
      <vt:lpstr>DejaVu Sans</vt:lpstr>
      <vt:lpstr>微软雅黑</vt:lpstr>
      <vt:lpstr>文泉驿微米黑</vt:lpstr>
      <vt:lpstr>Calibri</vt:lpstr>
      <vt:lpstr>微软雅黑</vt:lpstr>
      <vt:lpstr>宋体</vt:lpstr>
      <vt:lpstr>Arial Unicode MS</vt:lpstr>
      <vt:lpstr>Noto Serif CJK SC</vt:lpstr>
      <vt:lpstr>Noto Color Emoji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devin</cp:lastModifiedBy>
  <cp:revision>11</cp:revision>
  <dcterms:created xsi:type="dcterms:W3CDTF">2026-09-10T06:50:40Z</dcterms:created>
  <dcterms:modified xsi:type="dcterms:W3CDTF">2026-09-10T06:50:40Z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96636C575F769DFDC34BA26AE6FC5F2F_42</vt:lpwstr>
  </property>
  <property fmtid="{D5CDD505-2E9C-101B-9397-08002B2CF9AE}" pid="3" name="KSOProductBuildVer">
    <vt:lpwstr>2052-12.1.2.28080</vt:lpwstr>
  </property>
</Properties>
</file>