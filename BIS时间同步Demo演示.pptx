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9943" y="2224342"/>
            <a:ext cx="153898" cy="15389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1856" y="578143"/>
            <a:ext cx="86130" cy="8613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4726" y="3699728"/>
            <a:ext cx="140866" cy="140866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55546" y="1083425"/>
            <a:ext cx="116490" cy="11649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4094" y="3032207"/>
            <a:ext cx="121294" cy="12129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92398" y="3465073"/>
            <a:ext cx="71195" cy="71195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nRF54L15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蓝牙 BIS 时间同步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0D4FF"/>
                </a:solidFill>
                <a:latin typeface="微软雅黑"/>
                <a:ea typeface="微软雅黑"/>
              </a:rPr>
              <a:t>机器人大脑与四肢关节</a:t>
            </a:r>
          </a:p>
          <a:p>
            <a:pPr algn="l"/>
            <a:r>
              <a:rPr sz="2200" b="0">
                <a:solidFill>
                  <a:srgbClr val="00D4FF"/>
                </a:solidFill>
                <a:latin typeface="微软雅黑"/>
                <a:ea typeface="微软雅黑"/>
              </a:rPr>
              <a:t>时钟同步 · 技术方案与演示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434840"/>
            <a:ext cx="237744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709160"/>
            <a:ext cx="1600200" cy="502920"/>
          </a:xfrm>
          <a:prstGeom prst="roundRect">
            <a:avLst/>
          </a:prstGeom>
          <a:solidFill>
            <a:srgbClr val="0E3052"/>
          </a:solidFill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0D4FF"/>
                </a:solidFill>
                <a:latin typeface="微软雅黑"/>
                <a:ea typeface="微软雅黑"/>
              </a:rPr>
              <a:t>BLE 5.2 ISO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709160"/>
            <a:ext cx="1600200" cy="502920"/>
          </a:xfrm>
          <a:prstGeom prst="roundRect">
            <a:avLst/>
          </a:prstGeom>
          <a:solidFill>
            <a:srgbClr val="0E3052"/>
          </a:solidFill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0D4FF"/>
                </a:solidFill>
                <a:latin typeface="微软雅黑"/>
                <a:ea typeface="微软雅黑"/>
              </a:rPr>
              <a:t>1 发 2 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709160"/>
            <a:ext cx="1600200" cy="502920"/>
          </a:xfrm>
          <a:prstGeom prst="roundRect">
            <a:avLst/>
          </a:prstGeom>
          <a:solidFill>
            <a:srgbClr val="0E3052"/>
          </a:solidFill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0D4FF"/>
                </a:solidFill>
                <a:latin typeface="微软雅黑"/>
                <a:ea typeface="微软雅黑"/>
              </a:rPr>
              <a:t>1µs 精度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709160"/>
            <a:ext cx="1600200" cy="502920"/>
          </a:xfrm>
          <a:prstGeom prst="roundRect">
            <a:avLst/>
          </a:prstGeom>
          <a:solidFill>
            <a:srgbClr val="0E3052"/>
          </a:solidFill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0D4FF"/>
                </a:solidFill>
                <a:latin typeface="微软雅黑"/>
                <a:ea typeface="微软雅黑"/>
              </a:rPr>
              <a:t>200Hz 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B7B"/>
                </a:solidFill>
                <a:latin typeface="微软雅黑"/>
                <a:ea typeface="微软雅黑"/>
              </a:rPr>
              <a:t>Nordic nRF Connect SDK v3.4.0 · nRF54L15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822960"/>
            <a:ext cx="5669280" cy="3977639"/>
          </a:xfrm>
          <a:prstGeom prst="roundRect">
            <a:avLst/>
          </a:prstGeom>
          <a:noFill/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in_to_joint_clock_synchroni_2026-09-15T04-52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822960" cy="8229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B3C"/>
                </a:solidFill>
                <a:latin typeface="微软雅黑"/>
                <a:ea typeface="微软雅黑"/>
              </a:rPr>
              <a:t>演示目标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微秒级时间同步的目标与关键指标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822960" cy="8229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B3C"/>
                </a:solidFill>
                <a:latin typeface="微软雅黑"/>
                <a:ea typeface="微软雅黑"/>
              </a:rPr>
              <a:t>技术原理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004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时间戳载体 + 时钟伺服 + 定时呈现（一页看懂）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822960" cy="8229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233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B3C"/>
                </a:solidFill>
                <a:latin typeface="微软雅黑"/>
                <a:ea typeface="微软雅黑"/>
              </a:rPr>
              <a:t>系统架构与演示环境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348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1 发 2 收架构 · 软硬件与工具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257800"/>
            <a:ext cx="822960" cy="8229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B3C"/>
                </a:solidFill>
                <a:latin typeface="微软雅黑"/>
                <a:ea typeface="微软雅黑"/>
              </a:rPr>
              <a:t>实测数据与优势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6692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0µs 误差 · 应用场景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演示目标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0350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46304" cy="1417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微软雅黑"/>
                <a:ea typeface="微软雅黑"/>
              </a:rPr>
              <a:t>多节点统一时间基准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微软雅黑"/>
                <a:ea typeface="微软雅黑"/>
              </a:rPr>
              <a:t>1 个发送端 + 2 个接收端，长期共享同一时间基准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60350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146304" cy="1417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1927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微软雅黑"/>
                <a:ea typeface="微软雅黑"/>
              </a:rPr>
              <a:t>微秒级打戳一致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76472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微软雅黑"/>
                <a:ea typeface="微软雅黑"/>
              </a:rPr>
              <a:t>三方对同一事件打出相同时间戳，精度约 1µs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60350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754880"/>
            <a:ext cx="146304" cy="1417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1947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微软雅黑"/>
                <a:ea typeface="微软雅黑"/>
              </a:rPr>
              <a:t>硬件级确定性呈现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76672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微软雅黑"/>
                <a:ea typeface="微软雅黑"/>
              </a:rPr>
              <a:t>P1.10 输出 1µs 窄脉冲，边沿对齐可被逻辑分析仪直观观测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463040"/>
            <a:ext cx="4846320" cy="4846320"/>
          </a:xfrm>
          <a:prstGeom prst="roundRect">
            <a:avLst/>
          </a:prstGeom>
          <a:noFill/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rain_to_joint_clock_synchroni_2026-09-15T04-52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6634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什么是 BLE BIS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BROADCAST ISOCHRONOUS STREAM · 规范解读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949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94960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5394960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定义与规范依据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BIS = Broadcast Isochronous Stream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  广播等时流，BLE 5.2 引入的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  LE Isochronous Channels（LE-ISO）特性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多条 BIS 组成一个 BIG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  （Broadcast Isochronous Group），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  一对多广播，无需连接/回传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规范：Bluetooth Core Spec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  Vol 6 Part G（Isochronous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  Adaptation Layer，ISOAL）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核心机制：以固定 ISO_Interval 发送 SDU，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  BIG 锚点作为同步参考时间基准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3492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349240" cy="54864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349240" cy="54864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关键参数与同步流程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关键参数：ISO_Interval（5ms~4s，</a:t>
            </a:r>
          </a:p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步进 1.25ms）· SDU_Interval · RTN · NSE</a:t>
            </a:r>
          </a:p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Max Transport Latency · 2M PHY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3474720"/>
            <a:ext cx="457200" cy="457200"/>
          </a:xfrm>
          <a:prstGeom prst="ellipse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4290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2B3C"/>
                </a:solidFill>
                <a:latin typeface="微软雅黑"/>
                <a:ea typeface="微软雅黑"/>
              </a:rPr>
              <a:t>Broadcaster 发 periodic adv</a:t>
            </a:r>
          </a:p>
          <a:p>
            <a:pPr algn="l"/>
            <a:r>
              <a:rPr sz="1050" b="0">
                <a:solidFill>
                  <a:srgbClr val="1A2B3C"/>
                </a:solidFill>
                <a:latin typeface="微软雅黑"/>
                <a:ea typeface="微软雅黑"/>
              </a:rPr>
              <a:t>（携带 BIGInfo 控制信息）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4050791"/>
            <a:ext cx="457200" cy="457200"/>
          </a:xfrm>
          <a:prstGeom prst="ellipse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005072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2B3C"/>
                </a:solidFill>
                <a:latin typeface="微软雅黑"/>
                <a:ea typeface="微软雅黑"/>
              </a:rPr>
              <a:t>Sync Receiver 扫描并</a:t>
            </a:r>
          </a:p>
          <a:p>
            <a:pPr algn="l"/>
            <a:r>
              <a:rPr sz="1050" b="0">
                <a:solidFill>
                  <a:srgbClr val="1A2B3C"/>
                </a:solidFill>
                <a:latin typeface="微软雅黑"/>
                <a:ea typeface="微软雅黑"/>
              </a:rPr>
              <a:t>同步 Periodic Advertising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4626864"/>
            <a:ext cx="457200" cy="457200"/>
          </a:xfrm>
          <a:prstGeom prst="ellipse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581144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2B3C"/>
                </a:solidFill>
                <a:latin typeface="微软雅黑"/>
                <a:ea typeface="微软雅黑"/>
              </a:rPr>
              <a:t>按 BIGInfo 建立 BIG 同步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5202936"/>
            <a:ext cx="457200" cy="457200"/>
          </a:xfrm>
          <a:prstGeom prst="ellipse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5157216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2B3C"/>
                </a:solidFill>
                <a:latin typeface="微软雅黑"/>
                <a:ea typeface="微软雅黑"/>
              </a:rPr>
              <a:t>定时接收 SDU，BIG 锚点</a:t>
            </a:r>
          </a:p>
          <a:p>
            <a:pPr algn="l"/>
            <a:r>
              <a:rPr sz="1050" b="0">
                <a:solidFill>
                  <a:srgbClr val="1A2B3C"/>
                </a:solidFill>
                <a:latin typeface="微软雅黑"/>
                <a:ea typeface="微软雅黑"/>
              </a:rPr>
              <a:t>作为时间基准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技术原理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PRINCIPLE · 一页看懂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105156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发送端 TX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SDU = [trigger][counter][tx_ts]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291840" cy="1051560"/>
          </a:xfrm>
          <a:prstGeom prst="round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接收端 RX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解析 → 时钟伺服 → shared_ts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1938528"/>
            <a:ext cx="4206240" cy="0"/>
          </a:xfrm>
          <a:prstGeom prst="line">
            <a:avLst/>
          </a:prstGeom>
          <a:ln w="38100">
            <a:solidFill>
              <a:srgbClr val="00D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31920" y="1188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微软雅黑"/>
                <a:ea typeface="微软雅黑"/>
              </a:rPr>
              <a:t>BIS 广播（5ms 间隔）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347472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34747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34747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① 时间戳载体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2044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发送端把 SDU 同步参考时间戳</a:t>
            </a:r>
          </a:p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tx_ts 写入 payload；接收端拿到</a:t>
            </a:r>
          </a:p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同一瞬间的本地读数 info-&gt;ts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749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6FF"/>
                </a:solidFill>
                <a:latin typeface="微软雅黑"/>
                <a:ea typeface="微软雅黑"/>
              </a:rPr>
              <a:t>参考对 (tx_ts, info-&gt;ts)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880360"/>
            <a:ext cx="347472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2880360"/>
            <a:ext cx="34747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2880360"/>
            <a:ext cx="34747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② 时钟伺服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52044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三状态 Kalman：offset / drift / drift-rate</a:t>
            </a:r>
          </a:p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新息 6σ 门限抗离群</a:t>
            </a:r>
          </a:p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二阶外推到当前时刻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50749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6FF"/>
                </a:solidFill>
                <a:latin typeface="微软雅黑"/>
                <a:ea typeface="微软雅黑"/>
              </a:rPr>
              <a:t>shared = local + offset + drift×age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880360"/>
            <a:ext cx="347472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880360"/>
            <a:ext cx="34747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880360"/>
            <a:ext cx="34747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③ 定时呈现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2044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GRTC → DPPI → GPIOTE 硬件链路</a:t>
            </a:r>
          </a:p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在 presentation 时刻驱动 P1.10</a:t>
            </a:r>
          </a:p>
          <a:p>
            <a:pPr algn="l"/>
            <a:r>
              <a:rPr sz="1150" b="0">
                <a:solidFill>
                  <a:srgbClr val="1A2B3C"/>
                </a:solidFill>
                <a:latin typeface="微软雅黑"/>
                <a:ea typeface="微软雅黑"/>
              </a:rPr>
              <a:t>免软件线程抖动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749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6FF"/>
                </a:solidFill>
                <a:latin typeface="微软雅黑"/>
                <a:ea typeface="微软雅黑"/>
              </a:rPr>
              <a:t>GRTC → DPPI → GPIOTE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微软雅黑"/>
                <a:ea typeface="微软雅黑"/>
              </a:rPr>
              <a:t>关键：tx_ts 与 info-&gt;ts 是同一物理瞬间（BIG 锚点）在两个自由运行时钟下的读数 → 据此估计偏移与漂移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ARCHITECTURE · 1 发 2 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377440" cy="6400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发送端 TX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3774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触发事件生成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3774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组包(嵌入时间戳)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23774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BIS 广播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83480"/>
            <a:ext cx="23774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本地定时呈现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931920"/>
            <a:ext cx="1737360" cy="0"/>
          </a:xfrm>
          <a:prstGeom prst="line">
            <a:avLst/>
          </a:prstGeom>
          <a:ln w="38100">
            <a:solidFill>
              <a:srgbClr val="00D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17520" y="4114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微软雅黑"/>
                <a:ea typeface="微软雅黑"/>
              </a:rPr>
              <a:t>BIS 广播</a:t>
            </a:r>
          </a:p>
          <a:p>
            <a:pPr algn="ctr"/>
            <a:r>
              <a:rPr sz="1200" b="0">
                <a:solidFill>
                  <a:srgbClr val="5A6B7B"/>
                </a:solidFill>
                <a:latin typeface="微软雅黑"/>
                <a:ea typeface="微软雅黑"/>
              </a:rPr>
              <a:t>(5ms 间隔)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554480"/>
            <a:ext cx="2926080" cy="640080"/>
          </a:xfrm>
          <a:prstGeom prst="round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接收端 RX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37744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解析 SDU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24612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时钟伺服(offset/drift)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11480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shared_ts 打戳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498348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P1.10 定时呈现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554480"/>
            <a:ext cx="2926080" cy="640080"/>
          </a:xfrm>
          <a:prstGeom prst="round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接收端 RX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37744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解析 SDU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24612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时钟伺服(offset/drift)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411480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shared_ts 打戳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98348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A2540"/>
                </a:solidFill>
                <a:latin typeface="微软雅黑"/>
                <a:ea typeface="微软雅黑"/>
              </a:rPr>
              <a:t>P1.10 定时呈现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Demo 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SOFTWARE · HARDWARE ·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432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硬件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377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nRF54L15-DK × 3（1 发 + 2 收）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USB 数据线 × 3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逻辑分析仪（≥ 20MS/s）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杜邦线 / 测试探针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7432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554480"/>
            <a:ext cx="2743200" cy="64008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743200" cy="64008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软件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77440"/>
            <a:ext cx="2377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nRF Connect SDK v3.4.0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Zephyr RTOS 4.4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本工程固件 zephyr.hex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编译：west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7432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43200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743200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工具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2377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nrfutil（烧录 / 复位）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串口终端（PuTTY / minicom）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逻辑分析仪软件（Saleae 等）</a:t>
            </a:r>
          </a:p>
          <a:p>
            <a:pPr algn="l"/>
            <a:r>
              <a:rPr sz="1200" b="0">
                <a:solidFill>
                  <a:srgbClr val="1A2B3C"/>
                </a:solidFill>
                <a:latin typeface="微软雅黑"/>
                <a:ea typeface="微软雅黑"/>
              </a:rPr>
              <a:t>• Python（文档/图表生成）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54480"/>
            <a:ext cx="27432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evelopment_board_and_logic_an_2026-09-15T04-52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691640"/>
            <a:ext cx="2468880" cy="2468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89719" y="4297680"/>
            <a:ext cx="2560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微软雅黑"/>
                <a:ea typeface="微软雅黑"/>
              </a:rPr>
              <a:t>实测搭建：大脑主控板</a:t>
            </a:r>
          </a:p>
          <a:p>
            <a:pPr algn="ctr"/>
            <a:r>
              <a:rPr sz="1200" b="0">
                <a:solidFill>
                  <a:srgbClr val="5A6B7B"/>
                </a:solidFill>
                <a:latin typeface="微软雅黑"/>
                <a:ea typeface="微软雅黑"/>
              </a:rPr>
              <a:t>+ 关节节点 + 逻辑分析仪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演示效果：三通道脉冲边沿对齐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2011680" cy="914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190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TX  发送端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2103120"/>
            <a:ext cx="8778240" cy="4572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0" y="1783079"/>
            <a:ext cx="20116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783079"/>
            <a:ext cx="20116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783079"/>
            <a:ext cx="20116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077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RX1 接收端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3291840"/>
            <a:ext cx="8778240" cy="4572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0" y="2971800"/>
            <a:ext cx="201168" cy="64008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971800"/>
            <a:ext cx="201168" cy="64008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971800"/>
            <a:ext cx="201168" cy="64008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9651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RX2 接收端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4480560"/>
            <a:ext cx="8778240" cy="4572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4160520"/>
            <a:ext cx="201168" cy="64008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4160520"/>
            <a:ext cx="201168" cy="64008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160520"/>
            <a:ext cx="201168" cy="640080"/>
          </a:xfrm>
          <a:prstGeom prst="rect">
            <a:avLst/>
          </a:prstGeom>
          <a:solidFill>
            <a:srgbClr val="2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41063" y="1371600"/>
            <a:ext cx="18288" cy="3749039"/>
          </a:xfrm>
          <a:prstGeom prst="rect">
            <a:avLst/>
          </a:prstGeom>
          <a:solidFill>
            <a:srgbClr val="406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35624" y="1371600"/>
            <a:ext cx="18288" cy="3749039"/>
          </a:xfrm>
          <a:prstGeom prst="rect">
            <a:avLst/>
          </a:prstGeom>
          <a:solidFill>
            <a:srgbClr val="406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30183" y="1371600"/>
            <a:ext cx="18288" cy="3749039"/>
          </a:xfrm>
          <a:prstGeom prst="rect">
            <a:avLst/>
          </a:prstGeom>
          <a:solidFill>
            <a:srgbClr val="406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0D4FF"/>
                </a:solidFill>
                <a:latin typeface="微软雅黑"/>
                <a:ea typeface="微软雅黑"/>
              </a:rPr>
              <a:t>三通道脉冲上升沿基本重合 —— 边沿时间差即同步误差（µs 级）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实测数据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MEASURED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1F6FEB"/>
                </a:solidFill>
                <a:latin typeface="微软雅黑"/>
                <a:ea typeface="微软雅黑"/>
              </a:rPr>
              <a:t>0 µs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微软雅黑"/>
                <a:ea typeface="微软雅黑"/>
              </a:rPr>
              <a:t>时间戳一致误差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737360"/>
            <a:ext cx="5669280" cy="31089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  <a:latin typeface="微软雅黑"/>
                <a:ea typeface="微软雅黑"/>
              </a:rPr>
              <a:t>TX: Sent SDU counter 205600</a:t>
            </a:r>
          </a:p>
          <a:p>
            <a:pPr algn="l"/>
            <a:r>
              <a:rPr sz="1400" b="0">
                <a:solidFill>
                  <a:srgbClr val="00D4FF"/>
                </a:solidFill>
                <a:latin typeface="微软雅黑"/>
                <a:ea typeface="微软雅黑"/>
              </a:rPr>
              <a:t>     timestamp 1028163407 us</a:t>
            </a:r>
          </a:p>
          <a:p>
            <a:pPr algn="l"/>
            <a:r>
              <a:rPr sz="1400" b="0">
                <a:solidFill>
                  <a:srgbClr val="00D4FF"/>
                </a:solidFill>
                <a:latin typeface="微软雅黑"/>
                <a:ea typeface="微软雅黑"/>
              </a:rPr>
              <a:t>RX: Recv SDU counter 205600</a:t>
            </a:r>
          </a:p>
          <a:p>
            <a:pPr algn="l"/>
            <a:r>
              <a:rPr sz="1400" b="0">
                <a:solidFill>
                  <a:srgbClr val="00D4FF"/>
                </a:solidFill>
                <a:latin typeface="微软雅黑"/>
                <a:ea typeface="微软雅黑"/>
              </a:rPr>
              <a:t>     shared_ts 1028163407 us</a:t>
            </a:r>
          </a:p>
          <a:p>
            <a:pPr algn="l"/>
            <a:r>
              <a:rPr sz="1400" b="0">
                <a:solidFill>
                  <a:srgbClr val="00D4FF"/>
                </a:solidFill>
                <a:latin typeface="微软雅黑"/>
                <a:ea typeface="微软雅黑"/>
              </a:rPr>
              <a:t>→ 完全一致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502920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脉冲边沿三通道对齐：µs 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技术优势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ADVANTAGES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035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035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3035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微秒级精度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controller-timed 硬件呈现（GRTC/DPPI/GPIOTE）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时钟伺服 + 漂移外推，消除陈旧误差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实测时间戳一致误差 0µs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035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53035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035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长期稳定可靠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212848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在线估计晶振漂移（ppm），持续跟踪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失同步 holdover 按最后速率滑行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32 位时间戳回绕正确处理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035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53035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53035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轻量易扩展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一对多广播，无连接、无回传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接收端数量可扩展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O(1) 伺服、无动态内存、200Hz 开销可忽略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31920"/>
            <a:ext cx="53035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931920"/>
            <a:ext cx="53035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931920"/>
            <a:ext cx="53035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硬件级确定性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590288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GPIO 呈现免软件线程调度抖动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SET/CLR 绝对电平、幂等自愈</a:t>
            </a:r>
          </a:p>
          <a:p>
            <a:pPr algn="l"/>
            <a:r>
              <a:rPr sz="1250" b="0">
                <a:solidFill>
                  <a:srgbClr val="1A2B3C"/>
                </a:solidFill>
                <a:latin typeface="微软雅黑"/>
                <a:ea typeface="微软雅黑"/>
              </a:rPr>
              <a:t>• Kalman 新息门限，对丢包/重传鲁棒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SCENARIOS · 所有需要时钟 / 信号同步的领域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hole_body_coordinated_motion__2026-09-15T04-52-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93391"/>
            <a:ext cx="150876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84708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机器人协同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8600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机器人大脑与四肢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关节时钟同步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ndustrial_multi_axis_motion_c_2026-09-15T05-00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993391"/>
            <a:ext cx="1508760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0" y="184708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工业控制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8600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多轴运动控制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分布式 PLC 同步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ireless_sensor_network_of_dis_2026-09-15T05-00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993391"/>
            <a:ext cx="1508760" cy="1508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21240" y="184708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无线传感网络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28600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分布式 IoT 节点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同步采集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51376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icrophone_array_beamforming_w_2026-09-15T05-00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590288"/>
            <a:ext cx="1508760" cy="1508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31720" y="444398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声学阵列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82896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麦克风阵列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波束成形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151376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151376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Vibration_monitoring_of_rotati_2026-09-15T05-00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4590288"/>
            <a:ext cx="1508760" cy="1508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26480" y="444398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振动监测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882896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旋转机械多通道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振动同步采集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4151376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4151376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mart_grid_electrical_substati_2026-09-15T05-00-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08" y="4590288"/>
            <a:ext cx="1508760" cy="1508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21240" y="444398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电力系统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882896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智能电网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PMU 相量测量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011680" cy="10972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应用场景（续）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SCENARIOS · 更多同步应用领域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lecom_base_station_tower_wit_2026-09-15T05-00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93391"/>
            <a:ext cx="150876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84708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通信基站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8600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5G TDD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时间同步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nancial_trading_system_with__2026-09-15T05-00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993391"/>
            <a:ext cx="1508760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0" y="184708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金融交易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8600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低延迟行情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时间戳同步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utonomous_vehicle_sensor_fusi_2026-09-15T05-00-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993391"/>
            <a:ext cx="1508760" cy="1508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21240" y="184708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自动驾驶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28600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多传感器融合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LiDAR / 相机 / IMU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51376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ulti_camera_and_microphone_st_2026-09-15T05-00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590288"/>
            <a:ext cx="1508760" cy="1508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31720" y="444398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音视频同步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82896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多相机多麦克风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音画同步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151376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151376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Telecom_base_station_tower_wit_2026-09-15T05-00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4590288"/>
            <a:ext cx="1508760" cy="1508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26480" y="444398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科学测量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882896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射电望远镜阵列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分布式测量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4151376"/>
            <a:ext cx="3657600" cy="2395728"/>
          </a:xfrm>
          <a:prstGeom prst="roundRect">
            <a:avLst/>
          </a:prstGeom>
          <a:solidFill>
            <a:srgbClr val="F5F9FF"/>
          </a:solidFill>
          <a:ln w="15240">
            <a:solidFill>
              <a:srgbClr val="2E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4151376"/>
            <a:ext cx="12801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edical_monitoring_devices_syn_2026-09-15T05-00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4590288"/>
            <a:ext cx="1508760" cy="1508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21240" y="444398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微软雅黑"/>
                <a:ea typeface="微软雅黑"/>
              </a:rPr>
              <a:t>医疗设备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882896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多设备</a:t>
            </a:r>
          </a:p>
          <a:p>
            <a:pPr algn="l"/>
            <a:r>
              <a:rPr sz="1050" b="0">
                <a:solidFill>
                  <a:srgbClr val="5A6B7B"/>
                </a:solidFill>
                <a:latin typeface="微软雅黑"/>
                <a:ea typeface="微软雅黑"/>
              </a:rPr>
              <a:t>同步监测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06022" y="2015973"/>
            <a:ext cx="156437" cy="156437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27935" y="1630948"/>
            <a:ext cx="135492" cy="135492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29246" y="1763835"/>
            <a:ext cx="164434" cy="16443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38877" y="3150640"/>
            <a:ext cx="155704" cy="15570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48318" y="605004"/>
            <a:ext cx="192820" cy="1928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24131" y="2501394"/>
            <a:ext cx="132429" cy="132429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4864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D4FF"/>
                </a:solidFill>
                <a:latin typeface="微软雅黑"/>
                <a:ea typeface="微软雅黑"/>
              </a:rPr>
              <a:t>基于 BLE BIS + 控制器时间戳 + 时钟伺服</a:t>
            </a:r>
          </a:p>
          <a:p>
            <a:pPr algn="l"/>
            <a:r>
              <a:rPr sz="1800" b="0">
                <a:solidFill>
                  <a:srgbClr val="00D4FF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1800" b="0">
                <a:solidFill>
                  <a:srgbClr val="00D4FF"/>
                </a:solidFill>
                <a:latin typeface="微软雅黑"/>
                <a:ea typeface="微软雅黑"/>
              </a:rPr>
              <a:t>实现微秒级多节点时间同步</a:t>
            </a:r>
          </a:p>
          <a:p>
            <a:pPr algn="l"/>
            <a:r>
              <a:rPr sz="1800" b="0">
                <a:solidFill>
                  <a:srgbClr val="00D4FF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1800" b="0">
                <a:solidFill>
                  <a:srgbClr val="00D4FF"/>
                </a:solidFill>
                <a:latin typeface="微软雅黑"/>
                <a:ea typeface="微软雅黑"/>
              </a:rPr>
              <a:t>实测时间戳一致（0µs）· 边沿 µs 级对齐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486400"/>
            <a:ext cx="237744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感谢观看 · 欢迎交流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05840"/>
            <a:ext cx="5577840" cy="3794760"/>
          </a:xfrm>
          <a:prstGeom prst="roundRect">
            <a:avLst/>
          </a:prstGeom>
          <a:noFill/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rain_to_joint_clock_synchroni_2026-09-15T04-52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94960" cy="3596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